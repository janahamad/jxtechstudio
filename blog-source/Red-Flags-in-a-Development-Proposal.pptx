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Crimson Pro Medium"/>
      <p:regular r:id="rId201314"/>
    </p:embeddedFont>
    <p:embeddedFont>
      <p:font typeface="Crimson Pro ExtraBold"/>
      <p:regular r:id="rId201315"/>
    </p:embeddedFont>
    <p:embeddedFont>
      <p:font typeface="Crimson Pro Black"/>
      <p:regular r:id="rId201316"/>
    </p:embeddedFont>
    <p:embeddedFont>
      <p:font typeface="Crimson Pro ExtraLight"/>
      <p:regular r:id="rId201317"/>
    </p:embeddedFont>
    <p:embeddedFont>
      <p:font typeface="Crimson Pro Light"/>
      <p:regular r:id="rId201318"/>
    </p:embeddedFont>
    <p:embeddedFont>
      <p:font typeface="Crimson Pro"/>
      <p:regular r:id="rId201319"/>
    </p:embeddedFont>
    <p:embeddedFont>
      <p:font typeface="Crimson Pro SemiBold"/>
      <p:regular r:id="rId201320"/>
    </p:embeddedFont>
    <p:embeddedFont>
      <p:font typeface="Crimson Pro Bold"/>
      <p:regular r:id="rId201321"/>
    </p:embeddedFont>
    <p:embeddedFont>
      <p:font typeface="Heebo Thin"/>
      <p:regular r:id="rId201322"/>
    </p:embeddedFont>
    <p:embeddedFont>
      <p:font typeface="Heebo ExtraLight"/>
      <p:regular r:id="rId201323"/>
    </p:embeddedFont>
    <p:embeddedFont>
      <p:font typeface="Heebo Light"/>
      <p:regular r:id="rId201324"/>
    </p:embeddedFont>
    <p:embeddedFont>
      <p:font typeface="Heebo"/>
      <p:regular r:id="rId201325"/>
    </p:embeddedFont>
    <p:embeddedFont>
      <p:font typeface="Heebo Medium"/>
      <p:regular r:id="rId201326"/>
    </p:embeddedFont>
    <p:embeddedFont>
      <p:font typeface="Heebo SemiBold"/>
      <p:regular r:id="rId201327"/>
    </p:embeddedFont>
    <p:embeddedFont>
      <p:font typeface="Heebo Bold"/>
      <p:regular r:id="rId201328"/>
    </p:embeddedFont>
    <p:embeddedFont>
      <p:font typeface="Heebo ExtraBold"/>
      <p:regular r:id="rId201329"/>
    </p:embeddedFont>
    <p:embeddedFont>
      <p:font typeface="Heebo Black"/>
      <p:regular r:id="rId20133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Relationship Id="rId201328" Target="fonts/201328.fntdata" Type="http://schemas.openxmlformats.org/officeDocument/2006/relationships/font"/><Relationship Id="rId201329" Target="fonts/201329.fntdata" Type="http://schemas.openxmlformats.org/officeDocument/2006/relationships/font"/><Relationship Id="rId201330" Target="fonts/201330.fntdata" Type="http://schemas.openxmlformats.org/officeDocument/2006/relationships/font"/><Relationship Id="rId201331" Target="fonts/201331.fntdata" Type="http://schemas.openxmlformats.org/officeDocument/2006/relationships/font"/><Relationship Id="rId201332" Target="fonts/201332.fntdata" Type="http://schemas.openxmlformats.org/officeDocument/2006/relationships/font"/><Relationship Id="rId201333" Target="fonts/201333.fntdata" Type="http://schemas.openxmlformats.org/officeDocument/2006/relationships/font"/><Relationship Id="rId201334" Target="fonts/201334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svg"/><Relationship Id="rId4" Type="http://schemas.openxmlformats.org/officeDocument/2006/relationships/image" Target="../media/image-9-2.png"/><Relationship Id="rId5" Type="http://schemas.openxmlformats.org/officeDocument/2006/relationships/image" Target="../media/image-9-3.svg"/><Relationship Id="rId6" Type="http://schemas.openxmlformats.org/officeDocument/2006/relationships/image" Target="../media/image-9-2.png"/><Relationship Id="rId7" Type="http://schemas.openxmlformats.org/officeDocument/2006/relationships/image" Target="../media/image-9-3.svg"/><Relationship Id="rId8" Type="http://schemas.openxmlformats.org/officeDocument/2006/relationships/image" Target="../media/image-9-2.png"/><Relationship Id="rId9" Type="http://schemas.openxmlformats.org/officeDocument/2006/relationships/image" Target="../media/image-9-3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989409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Red Flags in a Development Proposal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2087984"/>
            <a:ext cx="4722763" cy="20661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Receiving a development proposal is exciting—it means your project is moving forward.</a:t>
            </a:r>
            <a:endParaRPr lang="en-US" sz="1100" dirty="0"/>
          </a:p>
          <a:p>
            <a:pPr algn="l" indent="0" marL="0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But before you sign the contract, take a closer look.</a:t>
            </a:r>
            <a:endParaRPr lang="en-US" sz="1100" dirty="0"/>
          </a:p>
          <a:p>
            <a:pPr algn="l" indent="0" marL="0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 polished proposal with an attractive price doesn't always guarantee a successful project. In fact, some of the biggest problems don't appear during development—they're hidden in the proposal itself.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Here are the warning signs you should never ignore.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7966"/>
            <a:ext cx="8151763" cy="401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1. Vague Project Scope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96119" y="1032272"/>
            <a:ext cx="8608963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If the proposal says things like: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96119" y="1359173"/>
            <a:ext cx="8151763" cy="6692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03200" indent="-203200">
              <a:lnSpc>
                <a:spcPct val="127000"/>
              </a:lnSpc>
              <a:buSzPct val="100000"/>
              <a:buChar char="•"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"Complete website"</a:t>
            </a:r>
            <a:endParaRPr lang="en-US" sz="1000" dirty="0"/>
          </a:p>
          <a:p>
            <a:pPr algn="l" marL="203200" indent="-203200">
              <a:lnSpc>
                <a:spcPct val="127000"/>
              </a:lnSpc>
              <a:buSzPct val="100000"/>
              <a:buChar char="•"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"Custom platform"</a:t>
            </a:r>
            <a:endParaRPr lang="en-US" sz="1000" dirty="0"/>
          </a:p>
          <a:p>
            <a:pPr algn="l" marL="203200" indent="-203200">
              <a:lnSpc>
                <a:spcPct val="127000"/>
              </a:lnSpc>
              <a:buSzPct val="100000"/>
              <a:buChar char="•"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"Full system development"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96119" y="2159347"/>
            <a:ext cx="8151763" cy="5228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7000"/>
              </a:lnSpc>
              <a:spcAft>
                <a:spcPts val="1000"/>
              </a:spcAft>
              <a:buNone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...without explaining exactly what's included, that's a red flag.</a:t>
            </a:r>
            <a:endParaRPr lang="en-US" sz="1000" dirty="0"/>
          </a:p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 good proposal should clearly define: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96119" y="2813149"/>
            <a:ext cx="4017690" cy="457572"/>
          </a:xfrm>
          <a:prstGeom prst="roundRect">
            <a:avLst>
              <a:gd name="adj" fmla="val 4212"/>
            </a:avLst>
          </a:prstGeom>
          <a:solidFill>
            <a:srgbClr val="F2EEEE"/>
          </a:solidFill>
          <a:ln/>
        </p:spPr>
      </p:sp>
      <p:sp>
        <p:nvSpPr>
          <p:cNvPr id="7" name="Text 5"/>
          <p:cNvSpPr/>
          <p:nvPr/>
        </p:nvSpPr>
        <p:spPr>
          <a:xfrm>
            <a:off x="624557" y="2941588"/>
            <a:ext cx="3760812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Features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630192" y="2813149"/>
            <a:ext cx="4017690" cy="457572"/>
          </a:xfrm>
          <a:prstGeom prst="roundRect">
            <a:avLst>
              <a:gd name="adj" fmla="val 4212"/>
            </a:avLst>
          </a:prstGeom>
          <a:solidFill>
            <a:srgbClr val="F2EEEE"/>
          </a:solidFill>
          <a:ln/>
        </p:spPr>
      </p:sp>
      <p:sp>
        <p:nvSpPr>
          <p:cNvPr id="9" name="Text 7"/>
          <p:cNvSpPr/>
          <p:nvPr/>
        </p:nvSpPr>
        <p:spPr>
          <a:xfrm>
            <a:off x="4758630" y="2941588"/>
            <a:ext cx="3760812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Pages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96119" y="3387105"/>
            <a:ext cx="4017690" cy="457572"/>
          </a:xfrm>
          <a:prstGeom prst="roundRect">
            <a:avLst>
              <a:gd name="adj" fmla="val 4212"/>
            </a:avLst>
          </a:prstGeom>
          <a:solidFill>
            <a:srgbClr val="F2EEEE"/>
          </a:solidFill>
          <a:ln/>
        </p:spPr>
      </p:sp>
      <p:sp>
        <p:nvSpPr>
          <p:cNvPr id="11" name="Text 9"/>
          <p:cNvSpPr/>
          <p:nvPr/>
        </p:nvSpPr>
        <p:spPr>
          <a:xfrm>
            <a:off x="624557" y="3515544"/>
            <a:ext cx="3760812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User roles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630192" y="3387105"/>
            <a:ext cx="4017690" cy="457572"/>
          </a:xfrm>
          <a:prstGeom prst="roundRect">
            <a:avLst>
              <a:gd name="adj" fmla="val 4212"/>
            </a:avLst>
          </a:prstGeom>
          <a:solidFill>
            <a:srgbClr val="F2EEEE"/>
          </a:solidFill>
          <a:ln/>
        </p:spPr>
      </p:sp>
      <p:sp>
        <p:nvSpPr>
          <p:cNvPr id="13" name="Text 11"/>
          <p:cNvSpPr/>
          <p:nvPr/>
        </p:nvSpPr>
        <p:spPr>
          <a:xfrm>
            <a:off x="4758630" y="3515544"/>
            <a:ext cx="3760812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Integrations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96119" y="3961061"/>
            <a:ext cx="4017690" cy="457572"/>
          </a:xfrm>
          <a:prstGeom prst="roundRect">
            <a:avLst>
              <a:gd name="adj" fmla="val 4212"/>
            </a:avLst>
          </a:prstGeom>
          <a:solidFill>
            <a:srgbClr val="F2EEEE"/>
          </a:solidFill>
          <a:ln/>
        </p:spPr>
      </p:sp>
      <p:sp>
        <p:nvSpPr>
          <p:cNvPr id="15" name="Text 13"/>
          <p:cNvSpPr/>
          <p:nvPr/>
        </p:nvSpPr>
        <p:spPr>
          <a:xfrm>
            <a:off x="624557" y="4089499"/>
            <a:ext cx="3760812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Deliverables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630192" y="3961061"/>
            <a:ext cx="4017690" cy="457572"/>
          </a:xfrm>
          <a:prstGeom prst="roundRect">
            <a:avLst>
              <a:gd name="adj" fmla="val 4212"/>
            </a:avLst>
          </a:prstGeom>
          <a:solidFill>
            <a:srgbClr val="F2EEEE"/>
          </a:solidFill>
          <a:ln/>
        </p:spPr>
      </p:sp>
      <p:sp>
        <p:nvSpPr>
          <p:cNvPr id="17" name="Text 15"/>
          <p:cNvSpPr/>
          <p:nvPr/>
        </p:nvSpPr>
        <p:spPr>
          <a:xfrm>
            <a:off x="4758630" y="4089499"/>
            <a:ext cx="3760812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What's </a:t>
            </a:r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4C4C4D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not</a:t>
            </a:r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 included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96119" y="4549601"/>
            <a:ext cx="8608963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Ambiguity often leads to disagreements and unexpected costs later.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99467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2. Unrealistic Timelines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225972"/>
            <a:ext cx="8151763" cy="613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Be cautious if an agency promises to build a complex application in an unusually short timeframe.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Quality software requires: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96119" y="1998538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01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96119" y="2220441"/>
            <a:ext cx="4004965" cy="19050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6" name="Text 4"/>
          <p:cNvSpPr/>
          <p:nvPr/>
        </p:nvSpPr>
        <p:spPr>
          <a:xfrm>
            <a:off x="496119" y="2329383"/>
            <a:ext cx="400496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Planning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642842" y="1998538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02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42842" y="2220441"/>
            <a:ext cx="4005039" cy="19050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9" name="Text 7"/>
          <p:cNvSpPr/>
          <p:nvPr/>
        </p:nvSpPr>
        <p:spPr>
          <a:xfrm>
            <a:off x="4642842" y="2329383"/>
            <a:ext cx="400503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Design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96119" y="2798862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03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96119" y="3020764"/>
            <a:ext cx="4004965" cy="19050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12" name="Text 10"/>
          <p:cNvSpPr/>
          <p:nvPr/>
        </p:nvSpPr>
        <p:spPr>
          <a:xfrm>
            <a:off x="496119" y="3129707"/>
            <a:ext cx="400496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Development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642842" y="2798862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04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42842" y="3020764"/>
            <a:ext cx="4005039" cy="19050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15" name="Text 13"/>
          <p:cNvSpPr/>
          <p:nvPr/>
        </p:nvSpPr>
        <p:spPr>
          <a:xfrm>
            <a:off x="4642842" y="3129707"/>
            <a:ext cx="400503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Testing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96119" y="3599185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05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96119" y="3821088"/>
            <a:ext cx="4004965" cy="19050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18" name="Text 16"/>
          <p:cNvSpPr/>
          <p:nvPr/>
        </p:nvSpPr>
        <p:spPr>
          <a:xfrm>
            <a:off x="496119" y="3930030"/>
            <a:ext cx="400496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Revisions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642842" y="3599185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06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42842" y="3821088"/>
            <a:ext cx="4005039" cy="19050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21" name="Text 19"/>
          <p:cNvSpPr/>
          <p:nvPr/>
        </p:nvSpPr>
        <p:spPr>
          <a:xfrm>
            <a:off x="4642842" y="3930030"/>
            <a:ext cx="400503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Deployment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96119" y="4417219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While experienced teams can work efficiently, extremely aggressive timelines may indicate corners will be cut.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21978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3. No Mention of Testing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548482"/>
            <a:ext cx="8151763" cy="613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Testing is an essential part of software development.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If the proposal doesn't mention: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96119" y="2321049"/>
            <a:ext cx="4004965" cy="543074"/>
          </a:xfrm>
          <a:prstGeom prst="roundRect">
            <a:avLst>
              <a:gd name="adj" fmla="val 3916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6927" y="2481858"/>
            <a:ext cx="368334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Quality assurance (QA)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642842" y="2321049"/>
            <a:ext cx="4005039" cy="543074"/>
          </a:xfrm>
          <a:prstGeom prst="roundRect">
            <a:avLst>
              <a:gd name="adj" fmla="val 3916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03651" y="2481858"/>
            <a:ext cx="36834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Bug fixing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96119" y="3005882"/>
            <a:ext cx="4004965" cy="543074"/>
          </a:xfrm>
          <a:prstGeom prst="roundRect">
            <a:avLst>
              <a:gd name="adj" fmla="val 3916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6927" y="3166690"/>
            <a:ext cx="368334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User acceptance testing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642842" y="3005882"/>
            <a:ext cx="4005039" cy="543074"/>
          </a:xfrm>
          <a:prstGeom prst="roundRect">
            <a:avLst>
              <a:gd name="adj" fmla="val 3916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3651" y="3166690"/>
            <a:ext cx="36834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Performance testing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96119" y="3708425"/>
            <a:ext cx="8151763" cy="613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...ask why.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Launching without proper testing often results in expensive fixes after the project goes live.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35099"/>
            <a:ext cx="8151763" cy="422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4. Ownership Isn't Clearly Defined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496119" y="1114946"/>
            <a:ext cx="8608963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One of the most important questions is: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96119" y="1519238"/>
            <a:ext cx="8151763" cy="582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b="1" dirty="0">
                <a:solidFill>
                  <a:srgbClr val="152D47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Who owns the final product?</a:t>
            </a:r>
            <a:endParaRPr lang="en-US" sz="3650" dirty="0"/>
          </a:p>
        </p:txBody>
      </p:sp>
      <p:sp>
        <p:nvSpPr>
          <p:cNvPr id="5" name="Text 3"/>
          <p:cNvSpPr/>
          <p:nvPr/>
        </p:nvSpPr>
        <p:spPr>
          <a:xfrm>
            <a:off x="496119" y="2295153"/>
            <a:ext cx="8608963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The proposal should clearly state whether you'll receive: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96119" y="2651150"/>
            <a:ext cx="4011513" cy="481236"/>
          </a:xfrm>
          <a:prstGeom prst="roundRect">
            <a:avLst>
              <a:gd name="adj" fmla="val 4212"/>
            </a:avLst>
          </a:prstGeom>
          <a:solidFill>
            <a:srgbClr val="F2EEEE"/>
          </a:solidFill>
          <a:ln/>
        </p:spPr>
      </p:sp>
      <p:sp>
        <p:nvSpPr>
          <p:cNvPr id="7" name="Text 5"/>
          <p:cNvSpPr/>
          <p:nvPr/>
        </p:nvSpPr>
        <p:spPr>
          <a:xfrm>
            <a:off x="631180" y="2786211"/>
            <a:ext cx="3741390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Source code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36368" y="2651150"/>
            <a:ext cx="4011513" cy="481236"/>
          </a:xfrm>
          <a:prstGeom prst="roundRect">
            <a:avLst>
              <a:gd name="adj" fmla="val 4212"/>
            </a:avLst>
          </a:prstGeom>
          <a:solidFill>
            <a:srgbClr val="F2EEEE"/>
          </a:solidFill>
          <a:ln/>
        </p:spPr>
      </p:sp>
      <p:sp>
        <p:nvSpPr>
          <p:cNvPr id="9" name="Text 7"/>
          <p:cNvSpPr/>
          <p:nvPr/>
        </p:nvSpPr>
        <p:spPr>
          <a:xfrm>
            <a:off x="4771430" y="2786211"/>
            <a:ext cx="3741390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Database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96119" y="3261122"/>
            <a:ext cx="4011513" cy="481236"/>
          </a:xfrm>
          <a:prstGeom prst="roundRect">
            <a:avLst>
              <a:gd name="adj" fmla="val 4212"/>
            </a:avLst>
          </a:prstGeom>
          <a:solidFill>
            <a:srgbClr val="F2EEEE"/>
          </a:solidFill>
          <a:ln/>
        </p:spPr>
      </p:sp>
      <p:sp>
        <p:nvSpPr>
          <p:cNvPr id="11" name="Text 9"/>
          <p:cNvSpPr/>
          <p:nvPr/>
        </p:nvSpPr>
        <p:spPr>
          <a:xfrm>
            <a:off x="631180" y="3396183"/>
            <a:ext cx="3741390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Design files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36368" y="3261122"/>
            <a:ext cx="4011513" cy="481236"/>
          </a:xfrm>
          <a:prstGeom prst="roundRect">
            <a:avLst>
              <a:gd name="adj" fmla="val 4212"/>
            </a:avLst>
          </a:prstGeom>
          <a:solidFill>
            <a:srgbClr val="F2EEEE"/>
          </a:solidFill>
          <a:ln/>
        </p:spPr>
      </p:sp>
      <p:sp>
        <p:nvSpPr>
          <p:cNvPr id="13" name="Text 11"/>
          <p:cNvSpPr/>
          <p:nvPr/>
        </p:nvSpPr>
        <p:spPr>
          <a:xfrm>
            <a:off x="4771430" y="3396183"/>
            <a:ext cx="3741390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Documentation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96119" y="3871094"/>
            <a:ext cx="4011513" cy="481236"/>
          </a:xfrm>
          <a:prstGeom prst="roundRect">
            <a:avLst>
              <a:gd name="adj" fmla="val 4212"/>
            </a:avLst>
          </a:prstGeom>
          <a:solidFill>
            <a:srgbClr val="F2EEEE"/>
          </a:solidFill>
          <a:ln/>
        </p:spPr>
      </p:sp>
      <p:sp>
        <p:nvSpPr>
          <p:cNvPr id="15" name="Text 13"/>
          <p:cNvSpPr/>
          <p:nvPr/>
        </p:nvSpPr>
        <p:spPr>
          <a:xfrm>
            <a:off x="631180" y="4006155"/>
            <a:ext cx="3741390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Server credentials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636368" y="3871094"/>
            <a:ext cx="4011513" cy="481236"/>
          </a:xfrm>
          <a:prstGeom prst="roundRect">
            <a:avLst>
              <a:gd name="adj" fmla="val 4212"/>
            </a:avLst>
          </a:prstGeom>
          <a:solidFill>
            <a:srgbClr val="F2EEEE"/>
          </a:solidFill>
          <a:ln/>
        </p:spPr>
      </p:sp>
      <p:sp>
        <p:nvSpPr>
          <p:cNvPr id="17" name="Text 15"/>
          <p:cNvSpPr/>
          <p:nvPr/>
        </p:nvSpPr>
        <p:spPr>
          <a:xfrm>
            <a:off x="4771430" y="4006155"/>
            <a:ext cx="3741390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Domain ownership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6119" y="4497214"/>
            <a:ext cx="8608963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If ownership isn't clearly addressed, you may face limitations after launch.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72703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5. Hidden Costs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399208"/>
            <a:ext cx="8151763" cy="613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 proposal that seems inexpensive at first may become much more expensive over time.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Watch for unclear pricing around: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96119" y="2171774"/>
            <a:ext cx="2622724" cy="543074"/>
          </a:xfrm>
          <a:prstGeom prst="roundRect">
            <a:avLst>
              <a:gd name="adj" fmla="val 3916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6927" y="2332583"/>
            <a:ext cx="23011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Additional features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3260601" y="2171774"/>
            <a:ext cx="2622724" cy="543074"/>
          </a:xfrm>
          <a:prstGeom prst="roundRect">
            <a:avLst>
              <a:gd name="adj" fmla="val 3916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21410" y="2332583"/>
            <a:ext cx="23011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Revisions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025083" y="2171774"/>
            <a:ext cx="2622724" cy="543074"/>
          </a:xfrm>
          <a:prstGeom prst="roundRect">
            <a:avLst>
              <a:gd name="adj" fmla="val 3916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85892" y="2332583"/>
            <a:ext cx="23011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Third-party services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96119" y="2856607"/>
            <a:ext cx="2622724" cy="543074"/>
          </a:xfrm>
          <a:prstGeom prst="roundRect">
            <a:avLst>
              <a:gd name="adj" fmla="val 3916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6927" y="3017416"/>
            <a:ext cx="23011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Hosting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3260601" y="2856607"/>
            <a:ext cx="2622724" cy="543074"/>
          </a:xfrm>
          <a:prstGeom prst="roundRect">
            <a:avLst>
              <a:gd name="adj" fmla="val 3916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1410" y="3017416"/>
            <a:ext cx="23011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Maintenance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025083" y="2856607"/>
            <a:ext cx="2622724" cy="543074"/>
          </a:xfrm>
          <a:prstGeom prst="roundRect">
            <a:avLst>
              <a:gd name="adj" fmla="val 3916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85892" y="3017416"/>
            <a:ext cx="23011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Support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96119" y="3541440"/>
            <a:ext cx="8151688" cy="543074"/>
          </a:xfrm>
          <a:prstGeom prst="roundRect">
            <a:avLst>
              <a:gd name="adj" fmla="val 3916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6927" y="3702248"/>
            <a:ext cx="783007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Deployment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96119" y="4243983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 transparent proposal explains what is included and what may incur additional charges.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409328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6. No Maintenance or Support Plan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2507903"/>
            <a:ext cx="4722763" cy="1226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Launching a website isn't the end of the journey.</a:t>
            </a:r>
            <a:endParaRPr lang="en-US" sz="1100" dirty="0"/>
          </a:p>
          <a:p>
            <a:pPr algn="l" indent="0" marL="0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Software requires updates, security patches, and occasional bug fixes.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If the proposal ends at deployment with no mention of post-launch support, ask what happens if issues arise after release.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29853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7. Security Is Never Mentioned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456358"/>
            <a:ext cx="8151763" cy="613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Every modern web application should consider security from the beginning.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 professional proposal should address topics such as: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96119" y="2228924"/>
            <a:ext cx="4004965" cy="504974"/>
          </a:xfrm>
          <a:prstGeom prst="roundRect">
            <a:avLst>
              <a:gd name="adj" fmla="val 4211"/>
            </a:avLst>
          </a:prstGeom>
          <a:solidFill>
            <a:srgbClr val="F2EEEE"/>
          </a:solidFill>
          <a:ln/>
        </p:spPr>
      </p:sp>
      <p:sp>
        <p:nvSpPr>
          <p:cNvPr id="5" name="Text 3"/>
          <p:cNvSpPr/>
          <p:nvPr/>
        </p:nvSpPr>
        <p:spPr>
          <a:xfrm>
            <a:off x="637877" y="2370683"/>
            <a:ext cx="372144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HTTPS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642842" y="2228924"/>
            <a:ext cx="4005039" cy="504974"/>
          </a:xfrm>
          <a:prstGeom prst="roundRect">
            <a:avLst>
              <a:gd name="adj" fmla="val 4211"/>
            </a:avLst>
          </a:prstGeom>
          <a:solidFill>
            <a:srgbClr val="F2EEEE"/>
          </a:solidFill>
          <a:ln/>
        </p:spPr>
      </p:sp>
      <p:sp>
        <p:nvSpPr>
          <p:cNvPr id="7" name="Text 5"/>
          <p:cNvSpPr/>
          <p:nvPr/>
        </p:nvSpPr>
        <p:spPr>
          <a:xfrm>
            <a:off x="4784601" y="2370683"/>
            <a:ext cx="37215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Authentication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96119" y="2875657"/>
            <a:ext cx="4004965" cy="504974"/>
          </a:xfrm>
          <a:prstGeom prst="roundRect">
            <a:avLst>
              <a:gd name="adj" fmla="val 4211"/>
            </a:avLst>
          </a:prstGeom>
          <a:solidFill>
            <a:srgbClr val="F2EEEE"/>
          </a:solidFill>
          <a:ln/>
        </p:spPr>
      </p:sp>
      <p:sp>
        <p:nvSpPr>
          <p:cNvPr id="9" name="Text 7"/>
          <p:cNvSpPr/>
          <p:nvPr/>
        </p:nvSpPr>
        <p:spPr>
          <a:xfrm>
            <a:off x="637877" y="3017416"/>
            <a:ext cx="372144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Authorization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642842" y="2875657"/>
            <a:ext cx="4005039" cy="504974"/>
          </a:xfrm>
          <a:prstGeom prst="roundRect">
            <a:avLst>
              <a:gd name="adj" fmla="val 4211"/>
            </a:avLst>
          </a:prstGeom>
          <a:solidFill>
            <a:srgbClr val="F2EEEE"/>
          </a:solidFill>
          <a:ln/>
        </p:spPr>
      </p:sp>
      <p:sp>
        <p:nvSpPr>
          <p:cNvPr id="11" name="Text 9"/>
          <p:cNvSpPr/>
          <p:nvPr/>
        </p:nvSpPr>
        <p:spPr>
          <a:xfrm>
            <a:off x="4784601" y="3017416"/>
            <a:ext cx="37215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Secure data handling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96119" y="3522390"/>
            <a:ext cx="4004965" cy="504974"/>
          </a:xfrm>
          <a:prstGeom prst="roundRect">
            <a:avLst>
              <a:gd name="adj" fmla="val 4211"/>
            </a:avLst>
          </a:prstGeom>
          <a:solidFill>
            <a:srgbClr val="F2EEEE"/>
          </a:solidFill>
          <a:ln/>
        </p:spPr>
      </p:sp>
      <p:sp>
        <p:nvSpPr>
          <p:cNvPr id="13" name="Text 11"/>
          <p:cNvSpPr/>
          <p:nvPr/>
        </p:nvSpPr>
        <p:spPr>
          <a:xfrm>
            <a:off x="637877" y="3664148"/>
            <a:ext cx="372144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Backup strategy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642842" y="3522390"/>
            <a:ext cx="4005039" cy="504974"/>
          </a:xfrm>
          <a:prstGeom prst="roundRect">
            <a:avLst>
              <a:gd name="adj" fmla="val 4211"/>
            </a:avLst>
          </a:prstGeom>
          <a:solidFill>
            <a:srgbClr val="F2EEEE"/>
          </a:solidFill>
          <a:ln/>
        </p:spPr>
      </p:sp>
      <p:sp>
        <p:nvSpPr>
          <p:cNvPr id="15" name="Text 13"/>
          <p:cNvSpPr/>
          <p:nvPr/>
        </p:nvSpPr>
        <p:spPr>
          <a:xfrm>
            <a:off x="4784601" y="3664148"/>
            <a:ext cx="37215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Protection against common vulnerabilities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96119" y="4186833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Ignoring security early can create significant risks later.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419100"/>
            <a:ext cx="4722763" cy="422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8. No Deployment Strategy</a:t>
            </a:r>
            <a:endParaRPr lang="en-US" sz="2650" dirty="0"/>
          </a:p>
        </p:txBody>
      </p:sp>
      <p:sp>
        <p:nvSpPr>
          <p:cNvPr id="4" name="Text 1"/>
          <p:cNvSpPr/>
          <p:nvPr/>
        </p:nvSpPr>
        <p:spPr>
          <a:xfrm>
            <a:off x="496119" y="1034579"/>
            <a:ext cx="4722763" cy="7782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1100"/>
              </a:spcAft>
              <a:buNone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Many proposals describe how the application will be built but not how it will be delivered.</a:t>
            </a:r>
            <a:endParaRPr lang="en-US" sz="10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Ask questions like:</a:t>
            </a:r>
            <a:endParaRPr lang="en-US" sz="10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6795" y="1961815"/>
            <a:ext cx="202629" cy="202629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35162" y="1957685"/>
            <a:ext cx="4283720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How will updates be deployed?</a:t>
            </a:r>
            <a:endParaRPr lang="en-US" sz="13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6795" y="2628863"/>
            <a:ext cx="202629" cy="202629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935162" y="2624733"/>
            <a:ext cx="4283720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Is there a staging environment?</a:t>
            </a:r>
            <a:endParaRPr lang="en-US" sz="130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46795" y="3295910"/>
            <a:ext cx="202629" cy="202629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935162" y="3291780"/>
            <a:ext cx="4283720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Is downtime expected during releases?</a:t>
            </a:r>
            <a:endParaRPr lang="en-US" sz="130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46795" y="3962958"/>
            <a:ext cx="202629" cy="202629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935162" y="3958828"/>
            <a:ext cx="4283720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Is there a rollback plan?</a:t>
            </a:r>
            <a:endParaRPr lang="en-US" sz="1300" dirty="0"/>
          </a:p>
        </p:txBody>
      </p:sp>
      <p:sp>
        <p:nvSpPr>
          <p:cNvPr id="13" name="Text 6"/>
          <p:cNvSpPr/>
          <p:nvPr/>
        </p:nvSpPr>
        <p:spPr>
          <a:xfrm>
            <a:off x="496119" y="4513213"/>
            <a:ext cx="5179963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 smooth deployment process is just as important as the development itself.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603870"/>
            <a:ext cx="4722763" cy="408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9. No Change Management Process</a:t>
            </a:r>
            <a:endParaRPr lang="en-US" sz="2550" dirty="0"/>
          </a:p>
        </p:txBody>
      </p:sp>
      <p:sp>
        <p:nvSpPr>
          <p:cNvPr id="4" name="Text 1"/>
          <p:cNvSpPr/>
          <p:nvPr/>
        </p:nvSpPr>
        <p:spPr>
          <a:xfrm>
            <a:off x="3925119" y="1192932"/>
            <a:ext cx="4722763" cy="537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spcAft>
                <a:spcPts val="1050"/>
              </a:spcAft>
              <a:buNone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Requirements change—that's normal.</a:t>
            </a:r>
            <a:endParaRPr lang="en-US" sz="10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 strong proposal explains how scope changes are handled, including: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3925119" y="1865635"/>
            <a:ext cx="4722763" cy="494035"/>
          </a:xfrm>
          <a:prstGeom prst="roundRect">
            <a:avLst>
              <a:gd name="adj" fmla="val 3968"/>
            </a:avLst>
          </a:prstGeom>
          <a:solidFill>
            <a:srgbClr val="FFFFFF"/>
          </a:solidFill>
          <a:ln w="14288">
            <a:solidFill>
              <a:srgbClr val="D8D4D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070077" y="2010594"/>
            <a:ext cx="4432846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Approval process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3925119" y="2480146"/>
            <a:ext cx="4722763" cy="494035"/>
          </a:xfrm>
          <a:prstGeom prst="roundRect">
            <a:avLst>
              <a:gd name="adj" fmla="val 3968"/>
            </a:avLst>
          </a:prstGeom>
          <a:solidFill>
            <a:srgbClr val="FFFFFF"/>
          </a:solidFill>
          <a:ln w="14288">
            <a:solidFill>
              <a:srgbClr val="D8D4D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070077" y="2625105"/>
            <a:ext cx="4432846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Timeline impact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925119" y="3094658"/>
            <a:ext cx="4722763" cy="494035"/>
          </a:xfrm>
          <a:prstGeom prst="roundRect">
            <a:avLst>
              <a:gd name="adj" fmla="val 3968"/>
            </a:avLst>
          </a:prstGeom>
          <a:solidFill>
            <a:srgbClr val="FFFFFF"/>
          </a:solidFill>
          <a:ln w="14288">
            <a:solidFill>
              <a:srgbClr val="D8D4D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070077" y="3239616"/>
            <a:ext cx="4432846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Cost adjustments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3925119" y="3709169"/>
            <a:ext cx="4722763" cy="494035"/>
          </a:xfrm>
          <a:prstGeom prst="roundRect">
            <a:avLst>
              <a:gd name="adj" fmla="val 3968"/>
            </a:avLst>
          </a:prstGeom>
          <a:solidFill>
            <a:srgbClr val="FFFFFF"/>
          </a:solidFill>
          <a:ln w="14288">
            <a:solidFill>
              <a:srgbClr val="D8D4D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070077" y="3854128"/>
            <a:ext cx="4432846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Documentation of changes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3925119" y="4338712"/>
            <a:ext cx="5179963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Without a defined process, small requests can quickly become major disputes.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2026-07-08T09:43:46Z</dcterms:created>
  <dcterms:modified xsi:type="dcterms:W3CDTF">2026-07-08T09:43:46Z</dcterms:modified>
</cp:coreProperties>
</file>
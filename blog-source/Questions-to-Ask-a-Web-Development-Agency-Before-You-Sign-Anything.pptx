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true" autoCompressPictures="0" embedTrueTypeFonts="true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embeddedFontLst>
    <p:embeddedFont>
      <p:font typeface="Crimson Pro Medium"/>
      <p:regular r:id="rId201314"/>
    </p:embeddedFont>
    <p:embeddedFont>
      <p:font typeface="Crimson Pro ExtraBold"/>
      <p:regular r:id="rId201315"/>
    </p:embeddedFont>
    <p:embeddedFont>
      <p:font typeface="Crimson Pro Black"/>
      <p:regular r:id="rId201316"/>
    </p:embeddedFont>
    <p:embeddedFont>
      <p:font typeface="Crimson Pro ExtraLight"/>
      <p:regular r:id="rId201317"/>
    </p:embeddedFont>
    <p:embeddedFont>
      <p:font typeface="Crimson Pro Light"/>
      <p:regular r:id="rId201318"/>
    </p:embeddedFont>
    <p:embeddedFont>
      <p:font typeface="Crimson Pro"/>
      <p:regular r:id="rId201319"/>
    </p:embeddedFont>
    <p:embeddedFont>
      <p:font typeface="Crimson Pro SemiBold"/>
      <p:regular r:id="rId201320"/>
    </p:embeddedFont>
    <p:embeddedFont>
      <p:font typeface="Crimson Pro Bold"/>
      <p:regular r:id="rId201321"/>
    </p:embeddedFont>
    <p:embeddedFont>
      <p:font typeface="Heebo Thin"/>
      <p:regular r:id="rId201322"/>
    </p:embeddedFont>
    <p:embeddedFont>
      <p:font typeface="Heebo ExtraLight"/>
      <p:regular r:id="rId201323"/>
    </p:embeddedFont>
    <p:embeddedFont>
      <p:font typeface="Heebo Light"/>
      <p:regular r:id="rId201324"/>
    </p:embeddedFont>
    <p:embeddedFont>
      <p:font typeface="Heebo"/>
      <p:regular r:id="rId201325"/>
    </p:embeddedFont>
    <p:embeddedFont>
      <p:font typeface="Heebo Medium"/>
      <p:regular r:id="rId201326"/>
    </p:embeddedFont>
    <p:embeddedFont>
      <p:font typeface="Heebo SemiBold"/>
      <p:regular r:id="rId201327"/>
    </p:embeddedFont>
    <p:embeddedFont>
      <p:font typeface="Heebo Bold"/>
      <p:regular r:id="rId201328"/>
    </p:embeddedFont>
    <p:embeddedFont>
      <p:font typeface="Heebo ExtraBold"/>
      <p:regular r:id="rId201329"/>
    </p:embeddedFont>
    <p:embeddedFont>
      <p:font typeface="Heebo Black"/>
      <p:regular r:id="rId201330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Relationship Id="rId201314" Target="fonts/201314.fntdata" Type="http://schemas.openxmlformats.org/officeDocument/2006/relationships/font"/><Relationship Id="rId201315" Target="fonts/201315.fntdata" Type="http://schemas.openxmlformats.org/officeDocument/2006/relationships/font"/><Relationship Id="rId201316" Target="fonts/201316.fntdata" Type="http://schemas.openxmlformats.org/officeDocument/2006/relationships/font"/><Relationship Id="rId201317" Target="fonts/201317.fntdata" Type="http://schemas.openxmlformats.org/officeDocument/2006/relationships/font"/><Relationship Id="rId201318" Target="fonts/201318.fntdata" Type="http://schemas.openxmlformats.org/officeDocument/2006/relationships/font"/><Relationship Id="rId201319" Target="fonts/201319.fntdata" Type="http://schemas.openxmlformats.org/officeDocument/2006/relationships/font"/><Relationship Id="rId201320" Target="fonts/201320.fntdata" Type="http://schemas.openxmlformats.org/officeDocument/2006/relationships/font"/><Relationship Id="rId201321" Target="fonts/201321.fntdata" Type="http://schemas.openxmlformats.org/officeDocument/2006/relationships/font"/><Relationship Id="rId201322" Target="fonts/201322.fntdata" Type="http://schemas.openxmlformats.org/officeDocument/2006/relationships/font"/><Relationship Id="rId201323" Target="fonts/201323.fntdata" Type="http://schemas.openxmlformats.org/officeDocument/2006/relationships/font"/><Relationship Id="rId201324" Target="fonts/201324.fntdata" Type="http://schemas.openxmlformats.org/officeDocument/2006/relationships/font"/><Relationship Id="rId201325" Target="fonts/201325.fntdata" Type="http://schemas.openxmlformats.org/officeDocument/2006/relationships/font"/><Relationship Id="rId201326" Target="fonts/201326.fntdata" Type="http://schemas.openxmlformats.org/officeDocument/2006/relationships/font"/><Relationship Id="rId201327" Target="fonts/201327.fntdata" Type="http://schemas.openxmlformats.org/officeDocument/2006/relationships/font"/><Relationship Id="rId201328" Target="fonts/201328.fntdata" Type="http://schemas.openxmlformats.org/officeDocument/2006/relationships/font"/><Relationship Id="rId201329" Target="fonts/201329.fntdata" Type="http://schemas.openxmlformats.org/officeDocument/2006/relationships/font"/><Relationship Id="rId201330" Target="fonts/201330.fntdata" Type="http://schemas.openxmlformats.org/officeDocument/2006/relationships/font"/><Relationship Id="rId201331" Target="fonts/201331.fntdata" Type="http://schemas.openxmlformats.org/officeDocument/2006/relationships/font"/><Relationship Id="rId201332" Target="fonts/201332.fntdata" Type="http://schemas.openxmlformats.org/officeDocument/2006/relationships/font"/><Relationship Id="rId201333" Target="fonts/201333.fntdata" Type="http://schemas.openxmlformats.org/officeDocument/2006/relationships/font"/><Relationship Id="rId201334" Target="fonts/201334.fntdata" Type="http://schemas.openxmlformats.org/officeDocument/2006/relationships/font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2-1.png"/><Relationship Id="rId3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0F0F1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svg"/><Relationship Id="rId4" Type="http://schemas.openxmlformats.org/officeDocument/2006/relationships/image" Target="../media/image-3-2.png"/><Relationship Id="rId5" Type="http://schemas.openxmlformats.org/officeDocument/2006/relationships/image" Target="../media/image-3-3.svg"/><Relationship Id="rId6" Type="http://schemas.openxmlformats.org/officeDocument/2006/relationships/image" Target="../media/image-3-2.png"/><Relationship Id="rId7" Type="http://schemas.openxmlformats.org/officeDocument/2006/relationships/image" Target="../media/image-3-3.svg"/><Relationship Id="rId8" Type="http://schemas.openxmlformats.org/officeDocument/2006/relationships/image" Target="../media/image-3-2.png"/><Relationship Id="rId9" Type="http://schemas.openxmlformats.org/officeDocument/2006/relationships/image" Target="../media/image-3-3.svg"/><Relationship Id="rId10" Type="http://schemas.openxmlformats.org/officeDocument/2006/relationships/slideLayout" Target="../slideLayouts/slideLayout2.xml"/><Relationship Id="rId11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svg"/><Relationship Id="rId4" Type="http://schemas.openxmlformats.org/officeDocument/2006/relationships/image" Target="../media/image-4-2.png"/><Relationship Id="rId5" Type="http://schemas.openxmlformats.org/officeDocument/2006/relationships/image" Target="../media/image-4-3.svg"/><Relationship Id="rId6" Type="http://schemas.openxmlformats.org/officeDocument/2006/relationships/image" Target="../media/image-4-2.png"/><Relationship Id="rId7" Type="http://schemas.openxmlformats.org/officeDocument/2006/relationships/image" Target="../media/image-4-3.svg"/><Relationship Id="rId8" Type="http://schemas.openxmlformats.org/officeDocument/2006/relationships/image" Target="../media/image-4-2.png"/><Relationship Id="rId9" Type="http://schemas.openxmlformats.org/officeDocument/2006/relationships/image" Target="../media/image-4-3.svg"/><Relationship Id="rId10" Type="http://schemas.openxmlformats.org/officeDocument/2006/relationships/slideLayout" Target="../slideLayouts/slideLayout2.xml"/><Relationship Id="rId11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svg"/><Relationship Id="rId3" Type="http://schemas.openxmlformats.org/officeDocument/2006/relationships/image" Target="../media/image-6-3.png"/><Relationship Id="rId4" Type="http://schemas.openxmlformats.org/officeDocument/2006/relationships/image" Target="../media/image-6-4.svg"/><Relationship Id="rId5" Type="http://schemas.openxmlformats.org/officeDocument/2006/relationships/image" Target="../media/image-6-5.png"/><Relationship Id="rId6" Type="http://schemas.openxmlformats.org/officeDocument/2006/relationships/image" Target="../media/image-6-6.svg"/><Relationship Id="rId7" Type="http://schemas.openxmlformats.org/officeDocument/2006/relationships/image" Target="../media/image-6-7.png"/><Relationship Id="rId8" Type="http://schemas.openxmlformats.org/officeDocument/2006/relationships/image" Target="../media/image-6-8.svg"/><Relationship Id="rId9" Type="http://schemas.openxmlformats.org/officeDocument/2006/relationships/image" Target="../media/image-6-9.png"/><Relationship Id="rId10" Type="http://schemas.openxmlformats.org/officeDocument/2006/relationships/image" Target="../media/image-6-10.svg"/><Relationship Id="rId11" Type="http://schemas.openxmlformats.org/officeDocument/2006/relationships/slideLayout" Target="../slideLayouts/slideLayout2.xml"/><Relationship Id="rId1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svg"/><Relationship Id="rId3" Type="http://schemas.openxmlformats.org/officeDocument/2006/relationships/image" Target="../media/image-7-1.png"/><Relationship Id="rId4" Type="http://schemas.openxmlformats.org/officeDocument/2006/relationships/image" Target="../media/image-7-2.svg"/><Relationship Id="rId5" Type="http://schemas.openxmlformats.org/officeDocument/2006/relationships/image" Target="../media/image-7-1.png"/><Relationship Id="rId6" Type="http://schemas.openxmlformats.org/officeDocument/2006/relationships/image" Target="../media/image-7-2.svg"/><Relationship Id="rId7" Type="http://schemas.openxmlformats.org/officeDocument/2006/relationships/image" Target="../media/image-7-7.png"/><Relationship Id="rId8" Type="http://schemas.openxmlformats.org/officeDocument/2006/relationships/image" Target="../media/image-7-8.svg"/><Relationship Id="rId9" Type="http://schemas.openxmlformats.org/officeDocument/2006/relationships/image" Target="../media/image-7-7.png"/><Relationship Id="rId10" Type="http://schemas.openxmlformats.org/officeDocument/2006/relationships/image" Target="../media/image-7-8.svg"/><Relationship Id="rId11" Type="http://schemas.openxmlformats.org/officeDocument/2006/relationships/slideLayout" Target="../slideLayouts/slideLayout2.xml"/><Relationship Id="rId1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svg"/><Relationship Id="rId4" Type="http://schemas.openxmlformats.org/officeDocument/2006/relationships/image" Target="../media/image-8-2.png"/><Relationship Id="rId5" Type="http://schemas.openxmlformats.org/officeDocument/2006/relationships/image" Target="../media/image-8-3.svg"/><Relationship Id="rId6" Type="http://schemas.openxmlformats.org/officeDocument/2006/relationships/image" Target="../media/image-8-2.png"/><Relationship Id="rId7" Type="http://schemas.openxmlformats.org/officeDocument/2006/relationships/image" Target="../media/image-8-3.svg"/><Relationship Id="rId8" Type="http://schemas.openxmlformats.org/officeDocument/2006/relationships/image" Target="../media/image-8-2.png"/><Relationship Id="rId9" Type="http://schemas.openxmlformats.org/officeDocument/2006/relationships/image" Target="../media/image-8-3.svg"/><Relationship Id="rId10" Type="http://schemas.openxmlformats.org/officeDocument/2006/relationships/slideLayout" Target="../slideLayouts/slideLayout2.xml"/><Relationship Id="rId11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svg"/><Relationship Id="rId3" Type="http://schemas.openxmlformats.org/officeDocument/2006/relationships/image" Target="../media/image-10-3.png"/><Relationship Id="rId4" Type="http://schemas.openxmlformats.org/officeDocument/2006/relationships/image" Target="../media/image-10-4.svg"/><Relationship Id="rId5" Type="http://schemas.openxmlformats.org/officeDocument/2006/relationships/image" Target="../media/image-10-5.png"/><Relationship Id="rId6" Type="http://schemas.openxmlformats.org/officeDocument/2006/relationships/image" Target="../media/image-10-6.svg"/><Relationship Id="rId7" Type="http://schemas.openxmlformats.org/officeDocument/2006/relationships/image" Target="../media/image-10-7.png"/><Relationship Id="rId8" Type="http://schemas.openxmlformats.org/officeDocument/2006/relationships/image" Target="../media/image-10-8.svg"/><Relationship Id="rId9" Type="http://schemas.openxmlformats.org/officeDocument/2006/relationships/image" Target="../media/image-10-9.png"/><Relationship Id="rId10" Type="http://schemas.openxmlformats.org/officeDocument/2006/relationships/image" Target="../media/image-10-10.svg"/><Relationship Id="rId11" Type="http://schemas.openxmlformats.org/officeDocument/2006/relationships/image" Target="../media/image-10-11.png"/><Relationship Id="rId12" Type="http://schemas.openxmlformats.org/officeDocument/2006/relationships/image" Target="../media/image-10-12.svg"/><Relationship Id="rId13" Type="http://schemas.openxmlformats.org/officeDocument/2006/relationships/slideLayout" Target="../slideLayouts/slideLayout2.xml"/><Relationship Id="rId14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715000" y="0"/>
            <a:ext cx="3429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96119" y="881286"/>
            <a:ext cx="4722763" cy="132896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750" dirty="0">
                <a:solidFill>
                  <a:srgbClr val="152D47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Questions to Ask a Web Development Agency Before You Sign Anything</a:t>
            </a:r>
            <a:endParaRPr lang="en-US" sz="2750" dirty="0"/>
          </a:p>
        </p:txBody>
      </p:sp>
      <p:sp>
        <p:nvSpPr>
          <p:cNvPr id="4" name="Text 1"/>
          <p:cNvSpPr/>
          <p:nvPr/>
        </p:nvSpPr>
        <p:spPr>
          <a:xfrm>
            <a:off x="496119" y="2422847"/>
            <a:ext cx="4722763" cy="18392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3000"/>
              </a:lnSpc>
              <a:spcAft>
                <a:spcPts val="1250"/>
              </a:spcAft>
              <a:buNone/>
            </a:pPr>
            <a:r>
              <a:rPr lang="en-US" sz="110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Choosing a web development agency isn't just about comparing prices.</a:t>
            </a:r>
            <a:endParaRPr lang="en-US" sz="1100" dirty="0"/>
          </a:p>
          <a:p>
            <a:pPr algn="l" indent="0" marL="0">
              <a:lnSpc>
                <a:spcPct val="133000"/>
              </a:lnSpc>
              <a:spcAft>
                <a:spcPts val="1250"/>
              </a:spcAft>
              <a:buNone/>
            </a:pPr>
            <a:r>
              <a:rPr lang="en-US" sz="110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You're choosing a long-term technical partner—one that could build the foundation of your business for years to come.</a:t>
            </a:r>
            <a:endParaRPr lang="en-US" sz="1100" dirty="0"/>
          </a:p>
          <a:p>
            <a:pPr algn="l" indent="0" marL="0">
              <a:lnSpc>
                <a:spcPct val="133000"/>
              </a:lnSpc>
              <a:spcAft>
                <a:spcPts val="1250"/>
              </a:spcAft>
              <a:buNone/>
            </a:pPr>
            <a:r>
              <a:rPr lang="en-US" sz="110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The wrong choice can lead to missed deadlines, hidden costs, poor-quality code, or even a project you can't maintain after it's delivered.</a:t>
            </a:r>
            <a:endParaRPr lang="en-US" sz="110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Before signing a contract, make sure you ask the right questions.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729853"/>
            <a:ext cx="8151763" cy="442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750" dirty="0">
                <a:solidFill>
                  <a:srgbClr val="152D47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1. Who Owns the Code?</a:t>
            </a:r>
            <a:endParaRPr lang="en-US" sz="2750" dirty="0"/>
          </a:p>
        </p:txBody>
      </p:sp>
      <p:sp>
        <p:nvSpPr>
          <p:cNvPr id="3" name="Text 1"/>
          <p:cNvSpPr/>
          <p:nvPr/>
        </p:nvSpPr>
        <p:spPr>
          <a:xfrm>
            <a:off x="496119" y="1456358"/>
            <a:ext cx="8151763" cy="61309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3000"/>
              </a:lnSpc>
              <a:spcAft>
                <a:spcPts val="1250"/>
              </a:spcAft>
              <a:buNone/>
            </a:pPr>
            <a:r>
              <a:rPr lang="en-US" sz="110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This should be one of the first questions you ask.</a:t>
            </a:r>
            <a:endParaRPr lang="en-US" sz="110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When the project is complete, clarify whether you will receive: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496119" y="2228924"/>
            <a:ext cx="4004965" cy="504974"/>
          </a:xfrm>
          <a:prstGeom prst="roundRect">
            <a:avLst>
              <a:gd name="adj" fmla="val 4211"/>
            </a:avLst>
          </a:prstGeom>
          <a:solidFill>
            <a:srgbClr val="F2EEEE"/>
          </a:solidFill>
          <a:ln/>
        </p:spPr>
      </p:sp>
      <p:sp>
        <p:nvSpPr>
          <p:cNvPr id="5" name="Text 3"/>
          <p:cNvSpPr/>
          <p:nvPr/>
        </p:nvSpPr>
        <p:spPr>
          <a:xfrm>
            <a:off x="637877" y="2370683"/>
            <a:ext cx="3721447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4C4C4D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Full source code</a:t>
            </a:r>
            <a:endParaRPr lang="en-US" sz="1350" dirty="0"/>
          </a:p>
        </p:txBody>
      </p:sp>
      <p:sp>
        <p:nvSpPr>
          <p:cNvPr id="6" name="Shape 4"/>
          <p:cNvSpPr/>
          <p:nvPr/>
        </p:nvSpPr>
        <p:spPr>
          <a:xfrm>
            <a:off x="4642842" y="2228924"/>
            <a:ext cx="4005039" cy="504974"/>
          </a:xfrm>
          <a:prstGeom prst="roundRect">
            <a:avLst>
              <a:gd name="adj" fmla="val 4211"/>
            </a:avLst>
          </a:prstGeom>
          <a:solidFill>
            <a:srgbClr val="F2EEEE"/>
          </a:solidFill>
          <a:ln/>
        </p:spPr>
      </p:sp>
      <p:sp>
        <p:nvSpPr>
          <p:cNvPr id="7" name="Text 5"/>
          <p:cNvSpPr/>
          <p:nvPr/>
        </p:nvSpPr>
        <p:spPr>
          <a:xfrm>
            <a:off x="4784601" y="2370683"/>
            <a:ext cx="3721522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4C4C4D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Database files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496119" y="2875657"/>
            <a:ext cx="4004965" cy="504974"/>
          </a:xfrm>
          <a:prstGeom prst="roundRect">
            <a:avLst>
              <a:gd name="adj" fmla="val 4211"/>
            </a:avLst>
          </a:prstGeom>
          <a:solidFill>
            <a:srgbClr val="F2EEEE"/>
          </a:solidFill>
          <a:ln/>
        </p:spPr>
      </p:sp>
      <p:sp>
        <p:nvSpPr>
          <p:cNvPr id="9" name="Text 7"/>
          <p:cNvSpPr/>
          <p:nvPr/>
        </p:nvSpPr>
        <p:spPr>
          <a:xfrm>
            <a:off x="637877" y="3017416"/>
            <a:ext cx="3721447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4C4C4D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Design assets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4642842" y="2875657"/>
            <a:ext cx="4005039" cy="504974"/>
          </a:xfrm>
          <a:prstGeom prst="roundRect">
            <a:avLst>
              <a:gd name="adj" fmla="val 4211"/>
            </a:avLst>
          </a:prstGeom>
          <a:solidFill>
            <a:srgbClr val="F2EEEE"/>
          </a:solidFill>
          <a:ln/>
        </p:spPr>
      </p:sp>
      <p:sp>
        <p:nvSpPr>
          <p:cNvPr id="11" name="Text 9"/>
          <p:cNvSpPr/>
          <p:nvPr/>
        </p:nvSpPr>
        <p:spPr>
          <a:xfrm>
            <a:off x="4784601" y="3017416"/>
            <a:ext cx="3721522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4C4C4D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Documentation</a:t>
            </a:r>
            <a:endParaRPr lang="en-US" sz="1350" dirty="0"/>
          </a:p>
        </p:txBody>
      </p:sp>
      <p:sp>
        <p:nvSpPr>
          <p:cNvPr id="12" name="Shape 10"/>
          <p:cNvSpPr/>
          <p:nvPr/>
        </p:nvSpPr>
        <p:spPr>
          <a:xfrm>
            <a:off x="496119" y="3522390"/>
            <a:ext cx="4004965" cy="504974"/>
          </a:xfrm>
          <a:prstGeom prst="roundRect">
            <a:avLst>
              <a:gd name="adj" fmla="val 4211"/>
            </a:avLst>
          </a:prstGeom>
          <a:solidFill>
            <a:srgbClr val="F2EEEE"/>
          </a:solidFill>
          <a:ln/>
        </p:spPr>
      </p:sp>
      <p:sp>
        <p:nvSpPr>
          <p:cNvPr id="13" name="Text 11"/>
          <p:cNvSpPr/>
          <p:nvPr/>
        </p:nvSpPr>
        <p:spPr>
          <a:xfrm>
            <a:off x="637877" y="3664148"/>
            <a:ext cx="3721447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4C4C4D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Server access</a:t>
            </a:r>
            <a:endParaRPr lang="en-US" sz="1350" dirty="0"/>
          </a:p>
        </p:txBody>
      </p:sp>
      <p:sp>
        <p:nvSpPr>
          <p:cNvPr id="14" name="Shape 12"/>
          <p:cNvSpPr/>
          <p:nvPr/>
        </p:nvSpPr>
        <p:spPr>
          <a:xfrm>
            <a:off x="4642842" y="3522390"/>
            <a:ext cx="4005039" cy="504974"/>
          </a:xfrm>
          <a:prstGeom prst="roundRect">
            <a:avLst>
              <a:gd name="adj" fmla="val 4211"/>
            </a:avLst>
          </a:prstGeom>
          <a:solidFill>
            <a:srgbClr val="F2EEEE"/>
          </a:solidFill>
          <a:ln/>
        </p:spPr>
      </p:sp>
      <p:sp>
        <p:nvSpPr>
          <p:cNvPr id="15" name="Text 13"/>
          <p:cNvSpPr/>
          <p:nvPr/>
        </p:nvSpPr>
        <p:spPr>
          <a:xfrm>
            <a:off x="4784601" y="3664148"/>
            <a:ext cx="3721522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4C4C4D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Domain ownership</a:t>
            </a:r>
            <a:endParaRPr lang="en-US" sz="1350" dirty="0"/>
          </a:p>
        </p:txBody>
      </p:sp>
      <p:sp>
        <p:nvSpPr>
          <p:cNvPr id="16" name="Text 14"/>
          <p:cNvSpPr/>
          <p:nvPr/>
        </p:nvSpPr>
        <p:spPr>
          <a:xfrm>
            <a:off x="496119" y="4186833"/>
            <a:ext cx="8608963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You should never discover after launch that you're locked out of your own project.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3429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3925119" y="396032"/>
            <a:ext cx="4722763" cy="78908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450" dirty="0">
                <a:solidFill>
                  <a:srgbClr val="152D47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2. What Technology Stack Will You Use?</a:t>
            </a:r>
            <a:endParaRPr lang="en-US" sz="2450" dirty="0"/>
          </a:p>
        </p:txBody>
      </p:sp>
      <p:sp>
        <p:nvSpPr>
          <p:cNvPr id="4" name="Text 1"/>
          <p:cNvSpPr/>
          <p:nvPr/>
        </p:nvSpPr>
        <p:spPr>
          <a:xfrm>
            <a:off x="3925119" y="1353741"/>
            <a:ext cx="4722763" cy="50839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6000"/>
              </a:lnSpc>
              <a:spcAft>
                <a:spcPts val="950"/>
              </a:spcAft>
              <a:buNone/>
            </a:pPr>
            <a:r>
              <a:rPr lang="en-US" sz="9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You don't need to know every technical detail, but you should understand the basics.</a:t>
            </a:r>
            <a:endParaRPr lang="en-US" sz="950" dirty="0"/>
          </a:p>
          <a:p>
            <a:pPr algn="l" indent="0" marL="0">
              <a:lnSpc>
                <a:spcPct val="126000"/>
              </a:lnSpc>
              <a:buNone/>
            </a:pPr>
            <a:r>
              <a:rPr lang="en-US" sz="9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Ask questions like:</a:t>
            </a:r>
            <a:endParaRPr lang="en-US" sz="950" dirty="0"/>
          </a:p>
        </p:txBody>
      </p:sp>
      <p:pic>
        <p:nvPicPr>
          <p:cNvPr id="5" name="Image 1" descr="preencoded.png">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925119" y="1988641"/>
            <a:ext cx="4722763" cy="478259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4122762" y="2129135"/>
            <a:ext cx="4384625" cy="19727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00" dirty="0">
                <a:solidFill>
                  <a:srgbClr val="4C4C4D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Which frontend framework will you use?</a:t>
            </a:r>
            <a:endParaRPr lang="en-US" sz="1200" dirty="0"/>
          </a:p>
        </p:txBody>
      </p:sp>
      <p:pic>
        <p:nvPicPr>
          <p:cNvPr id="7" name="Image 2" descr="preencoded.png">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3925119" y="2579340"/>
            <a:ext cx="4722763" cy="478259"/>
          </a:xfrm>
          <a:prstGeom prst="rect">
            <a:avLst/>
          </a:prstGeom>
        </p:spPr>
      </p:pic>
      <p:sp>
        <p:nvSpPr>
          <p:cNvPr id="8" name="Text 3"/>
          <p:cNvSpPr/>
          <p:nvPr/>
        </p:nvSpPr>
        <p:spPr>
          <a:xfrm>
            <a:off x="4122762" y="2719834"/>
            <a:ext cx="4384625" cy="19727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00" dirty="0">
                <a:solidFill>
                  <a:srgbClr val="4C4C4D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Which backend technology powers the application?</a:t>
            </a:r>
            <a:endParaRPr lang="en-US" sz="1200" dirty="0"/>
          </a:p>
        </p:txBody>
      </p:sp>
      <p:pic>
        <p:nvPicPr>
          <p:cNvPr id="9" name="Image 3" descr="preencoded.png">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3925119" y="3170039"/>
            <a:ext cx="4722763" cy="478259"/>
          </a:xfrm>
          <a:prstGeom prst="rect">
            <a:avLst/>
          </a:prstGeom>
        </p:spPr>
      </p:pic>
      <p:sp>
        <p:nvSpPr>
          <p:cNvPr id="10" name="Text 4"/>
          <p:cNvSpPr/>
          <p:nvPr/>
        </p:nvSpPr>
        <p:spPr>
          <a:xfrm>
            <a:off x="4122762" y="3310533"/>
            <a:ext cx="4384625" cy="19727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00" dirty="0">
                <a:solidFill>
                  <a:srgbClr val="4C4C4D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Which database will be used?</a:t>
            </a:r>
            <a:endParaRPr lang="en-US" sz="1200" dirty="0"/>
          </a:p>
        </p:txBody>
      </p:sp>
      <p:pic>
        <p:nvPicPr>
          <p:cNvPr id="11" name="Image 4" descr="preencoded.png">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3925119" y="3760738"/>
            <a:ext cx="4722763" cy="478259"/>
          </a:xfrm>
          <a:prstGeom prst="rect">
            <a:avLst/>
          </a:prstGeom>
        </p:spPr>
      </p:pic>
      <p:sp>
        <p:nvSpPr>
          <p:cNvPr id="12" name="Text 5"/>
          <p:cNvSpPr/>
          <p:nvPr/>
        </p:nvSpPr>
        <p:spPr>
          <a:xfrm>
            <a:off x="4122762" y="3901232"/>
            <a:ext cx="4384625" cy="19727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00" dirty="0">
                <a:solidFill>
                  <a:srgbClr val="4C4C4D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Why is this stack the best fit for my project?</a:t>
            </a:r>
            <a:endParaRPr lang="en-US" sz="1200" dirty="0"/>
          </a:p>
        </p:txBody>
      </p:sp>
      <p:sp>
        <p:nvSpPr>
          <p:cNvPr id="13" name="Text 6"/>
          <p:cNvSpPr/>
          <p:nvPr/>
        </p:nvSpPr>
        <p:spPr>
          <a:xfrm>
            <a:off x="3925119" y="4365501"/>
            <a:ext cx="4722763" cy="38189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6000"/>
              </a:lnSpc>
              <a:buNone/>
            </a:pPr>
            <a:r>
              <a:rPr lang="en-US" sz="9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A good agency should be able to explain their choices in clear, non-technical language.</a:t>
            </a:r>
            <a:endParaRPr lang="en-US" sz="9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3429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3925119" y="464716"/>
            <a:ext cx="4722763" cy="8029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500" dirty="0">
                <a:solidFill>
                  <a:srgbClr val="152D47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3. How Will the Project Be Managed?</a:t>
            </a:r>
            <a:endParaRPr lang="en-US" sz="2500" dirty="0"/>
          </a:p>
        </p:txBody>
      </p:sp>
      <p:sp>
        <p:nvSpPr>
          <p:cNvPr id="4" name="Text 1"/>
          <p:cNvSpPr/>
          <p:nvPr/>
        </p:nvSpPr>
        <p:spPr>
          <a:xfrm>
            <a:off x="3925119" y="1442219"/>
            <a:ext cx="4722763" cy="52283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7000"/>
              </a:lnSpc>
              <a:spcAft>
                <a:spcPts val="1000"/>
              </a:spcAft>
              <a:buNone/>
            </a:pPr>
            <a:r>
              <a:rPr lang="en-US" sz="100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Successful projects depend on communication.</a:t>
            </a:r>
            <a:endParaRPr lang="en-US" sz="1000" dirty="0"/>
          </a:p>
          <a:p>
            <a:pPr algn="l" indent="0" marL="0">
              <a:lnSpc>
                <a:spcPct val="127000"/>
              </a:lnSpc>
              <a:buNone/>
            </a:pPr>
            <a:r>
              <a:rPr lang="en-US" sz="100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Ask:</a:t>
            </a:r>
            <a:endParaRPr lang="en-US" sz="1000" dirty="0"/>
          </a:p>
        </p:txBody>
      </p:sp>
      <p:pic>
        <p:nvPicPr>
          <p:cNvPr id="5" name="Image 1" descr="preencoded.png">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973264" y="2099965"/>
            <a:ext cx="192658" cy="192658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4342581" y="2096021"/>
            <a:ext cx="4305300" cy="2006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50" dirty="0">
                <a:solidFill>
                  <a:srgbClr val="4C4C4D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How often will we receive updates?</a:t>
            </a:r>
            <a:endParaRPr lang="en-US" sz="1250" dirty="0"/>
          </a:p>
        </p:txBody>
      </p:sp>
      <p:pic>
        <p:nvPicPr>
          <p:cNvPr id="7" name="Image 2" descr="preencoded.png">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3973264" y="2722141"/>
            <a:ext cx="192658" cy="192658"/>
          </a:xfrm>
          <a:prstGeom prst="rect">
            <a:avLst/>
          </a:prstGeom>
        </p:spPr>
      </p:pic>
      <p:sp>
        <p:nvSpPr>
          <p:cNvPr id="8" name="Text 3"/>
          <p:cNvSpPr/>
          <p:nvPr/>
        </p:nvSpPr>
        <p:spPr>
          <a:xfrm>
            <a:off x="4342581" y="2718197"/>
            <a:ext cx="4305300" cy="2006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50" dirty="0">
                <a:solidFill>
                  <a:srgbClr val="4C4C4D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Who is our main point of contact?</a:t>
            </a:r>
            <a:endParaRPr lang="en-US" sz="1250" dirty="0"/>
          </a:p>
        </p:txBody>
      </p:sp>
      <p:pic>
        <p:nvPicPr>
          <p:cNvPr id="9" name="Image 3" descr="preencoded.png">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3973264" y="3344317"/>
            <a:ext cx="192658" cy="192658"/>
          </a:xfrm>
          <a:prstGeom prst="rect">
            <a:avLst/>
          </a:prstGeom>
        </p:spPr>
      </p:pic>
      <p:sp>
        <p:nvSpPr>
          <p:cNvPr id="10" name="Text 4"/>
          <p:cNvSpPr/>
          <p:nvPr/>
        </p:nvSpPr>
        <p:spPr>
          <a:xfrm>
            <a:off x="4342581" y="3340373"/>
            <a:ext cx="4305300" cy="2006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50" dirty="0">
                <a:solidFill>
                  <a:srgbClr val="4C4C4D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How are changes handled?</a:t>
            </a:r>
            <a:endParaRPr lang="en-US" sz="1250" dirty="0"/>
          </a:p>
        </p:txBody>
      </p:sp>
      <p:pic>
        <p:nvPicPr>
          <p:cNvPr id="11" name="Image 4" descr="preencoded.png">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3973264" y="3966493"/>
            <a:ext cx="192658" cy="192658"/>
          </a:xfrm>
          <a:prstGeom prst="rect">
            <a:avLst/>
          </a:prstGeom>
        </p:spPr>
      </p:pic>
      <p:sp>
        <p:nvSpPr>
          <p:cNvPr id="12" name="Text 5"/>
          <p:cNvSpPr/>
          <p:nvPr/>
        </p:nvSpPr>
        <p:spPr>
          <a:xfrm>
            <a:off x="4342581" y="3962549"/>
            <a:ext cx="4305300" cy="2006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50" dirty="0">
                <a:solidFill>
                  <a:srgbClr val="4C4C4D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Which project management tools do you use?</a:t>
            </a:r>
            <a:endParaRPr lang="en-US" sz="1250" dirty="0"/>
          </a:p>
        </p:txBody>
      </p:sp>
      <p:sp>
        <p:nvSpPr>
          <p:cNvPr id="13" name="Text 6"/>
          <p:cNvSpPr/>
          <p:nvPr/>
        </p:nvSpPr>
        <p:spPr>
          <a:xfrm>
            <a:off x="3925119" y="4482852"/>
            <a:ext cx="5179963" cy="19593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7000"/>
              </a:lnSpc>
              <a:buNone/>
            </a:pPr>
            <a:r>
              <a:rPr lang="en-US" sz="100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Clear communication reduces misunderstandings and keeps projects on schedule.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715000" y="0"/>
            <a:ext cx="3429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96119" y="410021"/>
            <a:ext cx="4722763" cy="83061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600" dirty="0">
                <a:solidFill>
                  <a:srgbClr val="152D47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4. What Happens If Requirements Change?</a:t>
            </a:r>
            <a:endParaRPr lang="en-US" sz="2600" dirty="0"/>
          </a:p>
        </p:txBody>
      </p:sp>
      <p:sp>
        <p:nvSpPr>
          <p:cNvPr id="4" name="Text 1"/>
          <p:cNvSpPr/>
          <p:nvPr/>
        </p:nvSpPr>
        <p:spPr>
          <a:xfrm>
            <a:off x="496119" y="1427485"/>
            <a:ext cx="4722763" cy="55207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9000"/>
              </a:lnSpc>
              <a:spcAft>
                <a:spcPts val="1100"/>
              </a:spcAft>
              <a:buNone/>
            </a:pPr>
            <a:r>
              <a:rPr lang="en-US" sz="100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Almost every project evolves during development.</a:t>
            </a:r>
            <a:endParaRPr lang="en-US" sz="1000" dirty="0"/>
          </a:p>
          <a:p>
            <a:pPr algn="l" indent="0" marL="0">
              <a:lnSpc>
                <a:spcPct val="129000"/>
              </a:lnSpc>
              <a:buNone/>
            </a:pPr>
            <a:r>
              <a:rPr lang="en-US" sz="100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Ask how the agency handles:</a:t>
            </a:r>
            <a:endParaRPr lang="en-US" sz="1000" dirty="0"/>
          </a:p>
        </p:txBody>
      </p:sp>
      <p:sp>
        <p:nvSpPr>
          <p:cNvPr id="5" name="Shape 2"/>
          <p:cNvSpPr/>
          <p:nvPr/>
        </p:nvSpPr>
        <p:spPr>
          <a:xfrm>
            <a:off x="496119" y="2119685"/>
            <a:ext cx="4722763" cy="473497"/>
          </a:xfrm>
          <a:prstGeom prst="roundRect">
            <a:avLst>
              <a:gd name="adj" fmla="val 4210"/>
            </a:avLst>
          </a:prstGeom>
          <a:solidFill>
            <a:srgbClr val="F2EEEE"/>
          </a:solidFill>
          <a:ln/>
        </p:spPr>
      </p:sp>
      <p:sp>
        <p:nvSpPr>
          <p:cNvPr id="6" name="Text 3"/>
          <p:cNvSpPr/>
          <p:nvPr/>
        </p:nvSpPr>
        <p:spPr>
          <a:xfrm>
            <a:off x="629022" y="2252588"/>
            <a:ext cx="4456956" cy="2076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4C4C4D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Additional features</a:t>
            </a:r>
            <a:endParaRPr lang="en-US" sz="1300" dirty="0"/>
          </a:p>
        </p:txBody>
      </p:sp>
      <p:sp>
        <p:nvSpPr>
          <p:cNvPr id="7" name="Shape 4"/>
          <p:cNvSpPr/>
          <p:nvPr/>
        </p:nvSpPr>
        <p:spPr>
          <a:xfrm>
            <a:off x="496119" y="2717750"/>
            <a:ext cx="4722763" cy="473497"/>
          </a:xfrm>
          <a:prstGeom prst="roundRect">
            <a:avLst>
              <a:gd name="adj" fmla="val 4210"/>
            </a:avLst>
          </a:prstGeom>
          <a:solidFill>
            <a:srgbClr val="F2EEEE"/>
          </a:solidFill>
          <a:ln/>
        </p:spPr>
      </p:sp>
      <p:sp>
        <p:nvSpPr>
          <p:cNvPr id="8" name="Text 5"/>
          <p:cNvSpPr/>
          <p:nvPr/>
        </p:nvSpPr>
        <p:spPr>
          <a:xfrm>
            <a:off x="629022" y="2850654"/>
            <a:ext cx="4456956" cy="2076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4C4C4D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Scope changes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496119" y="3315816"/>
            <a:ext cx="4722763" cy="473497"/>
          </a:xfrm>
          <a:prstGeom prst="roundRect">
            <a:avLst>
              <a:gd name="adj" fmla="val 4210"/>
            </a:avLst>
          </a:prstGeom>
          <a:solidFill>
            <a:srgbClr val="F2EEEE"/>
          </a:solidFill>
          <a:ln/>
        </p:spPr>
      </p:sp>
      <p:sp>
        <p:nvSpPr>
          <p:cNvPr id="10" name="Text 7"/>
          <p:cNvSpPr/>
          <p:nvPr/>
        </p:nvSpPr>
        <p:spPr>
          <a:xfrm>
            <a:off x="629022" y="3448720"/>
            <a:ext cx="4456956" cy="2076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4C4C4D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Timeline adjustments</a:t>
            </a:r>
            <a:endParaRPr lang="en-US" sz="1300" dirty="0"/>
          </a:p>
        </p:txBody>
      </p:sp>
      <p:sp>
        <p:nvSpPr>
          <p:cNvPr id="11" name="Shape 8"/>
          <p:cNvSpPr/>
          <p:nvPr/>
        </p:nvSpPr>
        <p:spPr>
          <a:xfrm>
            <a:off x="496119" y="3913882"/>
            <a:ext cx="4722763" cy="473497"/>
          </a:xfrm>
          <a:prstGeom prst="roundRect">
            <a:avLst>
              <a:gd name="adj" fmla="val 4210"/>
            </a:avLst>
          </a:prstGeom>
          <a:solidFill>
            <a:srgbClr val="F2EEEE"/>
          </a:solidFill>
          <a:ln/>
        </p:spPr>
      </p:sp>
      <p:sp>
        <p:nvSpPr>
          <p:cNvPr id="12" name="Text 9"/>
          <p:cNvSpPr/>
          <p:nvPr/>
        </p:nvSpPr>
        <p:spPr>
          <a:xfrm>
            <a:off x="629022" y="4046786"/>
            <a:ext cx="4456956" cy="2076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4C4C4D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Budget updates</a:t>
            </a:r>
            <a:endParaRPr lang="en-US" sz="1300" dirty="0"/>
          </a:p>
        </p:txBody>
      </p:sp>
      <p:sp>
        <p:nvSpPr>
          <p:cNvPr id="13" name="Text 10"/>
          <p:cNvSpPr/>
          <p:nvPr/>
        </p:nvSpPr>
        <p:spPr>
          <a:xfrm>
            <a:off x="496119" y="4527500"/>
            <a:ext cx="5179963" cy="2059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9000"/>
              </a:lnSpc>
              <a:buNone/>
            </a:pPr>
            <a:r>
              <a:rPr lang="en-US" sz="100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A transparent change process helps avoid unexpected costs later.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1132954"/>
            <a:ext cx="8151763" cy="442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750" dirty="0">
                <a:solidFill>
                  <a:srgbClr val="152D47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5. Is the Website Optimized for Performance?</a:t>
            </a:r>
            <a:endParaRPr lang="en-US" sz="2750" dirty="0"/>
          </a:p>
        </p:txBody>
      </p:sp>
      <p:sp>
        <p:nvSpPr>
          <p:cNvPr id="3" name="Text 1"/>
          <p:cNvSpPr/>
          <p:nvPr/>
        </p:nvSpPr>
        <p:spPr>
          <a:xfrm>
            <a:off x="496119" y="1859459"/>
            <a:ext cx="8151763" cy="61309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3000"/>
              </a:lnSpc>
              <a:spcAft>
                <a:spcPts val="1250"/>
              </a:spcAft>
              <a:buNone/>
            </a:pPr>
            <a:r>
              <a:rPr lang="en-US" sz="110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A beautiful website isn't enough if it's slow.</a:t>
            </a:r>
            <a:endParaRPr lang="en-US" sz="110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Ask whether the agency considers:</a:t>
            </a:r>
            <a:endParaRPr lang="en-US" sz="11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496119" y="2632025"/>
            <a:ext cx="354360" cy="35436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027658" y="2632025"/>
            <a:ext cx="2067595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4C4C4D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Performance optimization</a:t>
            </a:r>
            <a:endParaRPr lang="en-US" sz="1350" dirty="0"/>
          </a:p>
        </p:txBody>
      </p:sp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272433" y="2632025"/>
            <a:ext cx="354360" cy="354360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3803972" y="2632025"/>
            <a:ext cx="2067595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4C4C4D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Mobile responsiveness</a:t>
            </a:r>
            <a:endParaRPr lang="en-US" sz="1350" dirty="0"/>
          </a:p>
        </p:txBody>
      </p:sp>
      <p:pic>
        <p:nvPicPr>
          <p:cNvPr id="8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6048747" y="2632025"/>
            <a:ext cx="354360" cy="354360"/>
          </a:xfrm>
          <a:prstGeom prst="rect">
            <a:avLst/>
          </a:prstGeom>
        </p:spPr>
      </p:pic>
      <p:sp>
        <p:nvSpPr>
          <p:cNvPr id="9" name="Text 4"/>
          <p:cNvSpPr/>
          <p:nvPr/>
        </p:nvSpPr>
        <p:spPr>
          <a:xfrm>
            <a:off x="6580287" y="2632025"/>
            <a:ext cx="2067595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4C4C4D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Image optimization</a:t>
            </a:r>
            <a:endParaRPr lang="en-US" sz="1350" dirty="0"/>
          </a:p>
        </p:txBody>
      </p:sp>
      <p:pic>
        <p:nvPicPr>
          <p:cNvPr id="10" name="Image 3" descr="preencoded.png">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496119" y="3269903"/>
            <a:ext cx="354360" cy="354360"/>
          </a:xfrm>
          <a:prstGeom prst="rect">
            <a:avLst/>
          </a:prstGeom>
        </p:spPr>
      </p:pic>
      <p:sp>
        <p:nvSpPr>
          <p:cNvPr id="11" name="Text 5"/>
          <p:cNvSpPr/>
          <p:nvPr/>
        </p:nvSpPr>
        <p:spPr>
          <a:xfrm>
            <a:off x="1027658" y="3269903"/>
            <a:ext cx="2067595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4C4C4D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Caching</a:t>
            </a:r>
            <a:endParaRPr lang="en-US" sz="1350" dirty="0"/>
          </a:p>
        </p:txBody>
      </p:sp>
      <p:pic>
        <p:nvPicPr>
          <p:cNvPr id="12" name="Image 4" descr="preencoded.png">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3272433" y="3269903"/>
            <a:ext cx="354360" cy="354360"/>
          </a:xfrm>
          <a:prstGeom prst="rect">
            <a:avLst/>
          </a:prstGeom>
        </p:spPr>
      </p:pic>
      <p:sp>
        <p:nvSpPr>
          <p:cNvPr id="13" name="Text 6"/>
          <p:cNvSpPr/>
          <p:nvPr/>
        </p:nvSpPr>
        <p:spPr>
          <a:xfrm>
            <a:off x="3803972" y="3269903"/>
            <a:ext cx="2067595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4C4C4D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Core Web Vitals</a:t>
            </a:r>
            <a:endParaRPr lang="en-US" sz="1350" dirty="0"/>
          </a:p>
        </p:txBody>
      </p:sp>
      <p:sp>
        <p:nvSpPr>
          <p:cNvPr id="14" name="Text 7"/>
          <p:cNvSpPr/>
          <p:nvPr/>
        </p:nvSpPr>
        <p:spPr>
          <a:xfrm>
            <a:off x="496119" y="3783732"/>
            <a:ext cx="8608963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Fast websites improve both user experience and business results.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904354"/>
            <a:ext cx="8151763" cy="442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750" dirty="0">
                <a:solidFill>
                  <a:srgbClr val="152D47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6. What About Security?</a:t>
            </a:r>
            <a:endParaRPr lang="en-US" sz="2750" dirty="0"/>
          </a:p>
        </p:txBody>
      </p:sp>
      <p:sp>
        <p:nvSpPr>
          <p:cNvPr id="3" name="Text 1"/>
          <p:cNvSpPr/>
          <p:nvPr/>
        </p:nvSpPr>
        <p:spPr>
          <a:xfrm>
            <a:off x="496119" y="1630859"/>
            <a:ext cx="8151763" cy="61309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3000"/>
              </a:lnSpc>
              <a:spcAft>
                <a:spcPts val="1250"/>
              </a:spcAft>
              <a:buNone/>
            </a:pPr>
            <a:r>
              <a:rPr lang="en-US" sz="110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Security should never be an afterthought.</a:t>
            </a:r>
            <a:endParaRPr lang="en-US" sz="110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Ask if the project includes:</a:t>
            </a:r>
            <a:endParaRPr lang="en-US" sz="11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496119" y="2403425"/>
            <a:ext cx="2622724" cy="543074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733127" y="2564234"/>
            <a:ext cx="2224906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4C4C4D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HTTPS configuration</a:t>
            </a:r>
            <a:endParaRPr lang="en-US" sz="1350" dirty="0"/>
          </a:p>
        </p:txBody>
      </p:sp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260601" y="2403425"/>
            <a:ext cx="2622724" cy="543074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3497610" y="2564234"/>
            <a:ext cx="2224906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4C4C4D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Secure authentication</a:t>
            </a:r>
            <a:endParaRPr lang="en-US" sz="1350" dirty="0"/>
          </a:p>
        </p:txBody>
      </p:sp>
      <p:pic>
        <p:nvPicPr>
          <p:cNvPr id="8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6025083" y="2403425"/>
            <a:ext cx="2622724" cy="543074"/>
          </a:xfrm>
          <a:prstGeom prst="rect">
            <a:avLst/>
          </a:prstGeom>
        </p:spPr>
      </p:pic>
      <p:sp>
        <p:nvSpPr>
          <p:cNvPr id="9" name="Text 4"/>
          <p:cNvSpPr/>
          <p:nvPr/>
        </p:nvSpPr>
        <p:spPr>
          <a:xfrm>
            <a:off x="6262092" y="2564234"/>
            <a:ext cx="2224906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4C4C4D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Input validation</a:t>
            </a:r>
            <a:endParaRPr lang="en-US" sz="1350" dirty="0"/>
          </a:p>
        </p:txBody>
      </p:sp>
      <p:pic>
        <p:nvPicPr>
          <p:cNvPr id="10" name="Image 3" descr="preencoded.png">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496119" y="3088258"/>
            <a:ext cx="2622724" cy="764530"/>
          </a:xfrm>
          <a:prstGeom prst="rect">
            <a:avLst/>
          </a:prstGeom>
        </p:spPr>
      </p:pic>
      <p:sp>
        <p:nvSpPr>
          <p:cNvPr id="11" name="Text 5"/>
          <p:cNvSpPr/>
          <p:nvPr/>
        </p:nvSpPr>
        <p:spPr>
          <a:xfrm>
            <a:off x="733127" y="3249067"/>
            <a:ext cx="2224906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4C4C4D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Regular security updates</a:t>
            </a:r>
            <a:endParaRPr lang="en-US" sz="1350" dirty="0"/>
          </a:p>
        </p:txBody>
      </p:sp>
      <p:pic>
        <p:nvPicPr>
          <p:cNvPr id="12" name="Image 4" descr="preencoded.png">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3260601" y="3088258"/>
            <a:ext cx="2622724" cy="764530"/>
          </a:xfrm>
          <a:prstGeom prst="rect">
            <a:avLst/>
          </a:prstGeom>
        </p:spPr>
      </p:pic>
      <p:sp>
        <p:nvSpPr>
          <p:cNvPr id="13" name="Text 6"/>
          <p:cNvSpPr/>
          <p:nvPr/>
        </p:nvSpPr>
        <p:spPr>
          <a:xfrm>
            <a:off x="3497610" y="3249067"/>
            <a:ext cx="2224906" cy="44291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4C4C4D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Protection against common web vulnerabilities</a:t>
            </a:r>
            <a:endParaRPr lang="en-US" sz="1350" dirty="0"/>
          </a:p>
        </p:txBody>
      </p:sp>
      <p:sp>
        <p:nvSpPr>
          <p:cNvPr id="14" name="Text 7"/>
          <p:cNvSpPr/>
          <p:nvPr/>
        </p:nvSpPr>
        <p:spPr>
          <a:xfrm>
            <a:off x="496119" y="4012257"/>
            <a:ext cx="8608963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Even small business websites can become targets for automated attacks.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3429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3925119" y="414858"/>
            <a:ext cx="4722763" cy="81676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550" dirty="0">
                <a:solidFill>
                  <a:srgbClr val="152D47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7. How Will the Website Be Deployed?</a:t>
            </a:r>
            <a:endParaRPr lang="en-US" sz="2550" dirty="0"/>
          </a:p>
        </p:txBody>
      </p:sp>
      <p:sp>
        <p:nvSpPr>
          <p:cNvPr id="4" name="Text 1"/>
          <p:cNvSpPr/>
          <p:nvPr/>
        </p:nvSpPr>
        <p:spPr>
          <a:xfrm>
            <a:off x="3925119" y="1412304"/>
            <a:ext cx="4722763" cy="53719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8000"/>
              </a:lnSpc>
              <a:spcAft>
                <a:spcPts val="1050"/>
              </a:spcAft>
              <a:buNone/>
            </a:pPr>
            <a:r>
              <a:rPr lang="en-US" sz="100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Deployment is often overlooked until launch day.</a:t>
            </a:r>
            <a:endParaRPr lang="en-US" sz="1000" dirty="0"/>
          </a:p>
          <a:p>
            <a:pPr algn="l" indent="0" marL="0">
              <a:lnSpc>
                <a:spcPct val="128000"/>
              </a:lnSpc>
              <a:buNone/>
            </a:pPr>
            <a:r>
              <a:rPr lang="en-US" sz="100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Ask questions like:</a:t>
            </a:r>
            <a:endParaRPr lang="en-US" sz="1000" dirty="0"/>
          </a:p>
        </p:txBody>
      </p:sp>
      <p:pic>
        <p:nvPicPr>
          <p:cNvPr id="5" name="Image 1" descr="preencoded.png">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974083" y="2089063"/>
            <a:ext cx="196007" cy="196007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4349800" y="2085008"/>
            <a:ext cx="4298082" cy="20411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50" dirty="0">
                <a:solidFill>
                  <a:srgbClr val="4C4C4D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Where will the application be hosted?</a:t>
            </a:r>
            <a:endParaRPr lang="en-US" sz="1250" dirty="0"/>
          </a:p>
        </p:txBody>
      </p:sp>
      <p:pic>
        <p:nvPicPr>
          <p:cNvPr id="7" name="Image 2" descr="preencoded.png">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3974083" y="2726122"/>
            <a:ext cx="196007" cy="196007"/>
          </a:xfrm>
          <a:prstGeom prst="rect">
            <a:avLst/>
          </a:prstGeom>
        </p:spPr>
      </p:pic>
      <p:sp>
        <p:nvSpPr>
          <p:cNvPr id="8" name="Text 3"/>
          <p:cNvSpPr/>
          <p:nvPr/>
        </p:nvSpPr>
        <p:spPr>
          <a:xfrm>
            <a:off x="4349800" y="2722066"/>
            <a:ext cx="4298082" cy="20411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50" dirty="0">
                <a:solidFill>
                  <a:srgbClr val="4C4C4D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How are updates deployed?</a:t>
            </a:r>
            <a:endParaRPr lang="en-US" sz="1250" dirty="0"/>
          </a:p>
        </p:txBody>
      </p:sp>
      <p:pic>
        <p:nvPicPr>
          <p:cNvPr id="9" name="Image 3" descr="preencoded.png">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3974083" y="3363181"/>
            <a:ext cx="196007" cy="196007"/>
          </a:xfrm>
          <a:prstGeom prst="rect">
            <a:avLst/>
          </a:prstGeom>
        </p:spPr>
      </p:pic>
      <p:sp>
        <p:nvSpPr>
          <p:cNvPr id="10" name="Text 4"/>
          <p:cNvSpPr/>
          <p:nvPr/>
        </p:nvSpPr>
        <p:spPr>
          <a:xfrm>
            <a:off x="4349800" y="3359125"/>
            <a:ext cx="4298082" cy="20411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50" dirty="0">
                <a:solidFill>
                  <a:srgbClr val="4C4C4D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Is there a staging environment?</a:t>
            </a:r>
            <a:endParaRPr lang="en-US" sz="1250" dirty="0"/>
          </a:p>
        </p:txBody>
      </p:sp>
      <p:pic>
        <p:nvPicPr>
          <p:cNvPr id="11" name="Image 4" descr="preencoded.png">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3974083" y="4000240"/>
            <a:ext cx="196007" cy="196007"/>
          </a:xfrm>
          <a:prstGeom prst="rect">
            <a:avLst/>
          </a:prstGeom>
        </p:spPr>
      </p:pic>
      <p:sp>
        <p:nvSpPr>
          <p:cNvPr id="12" name="Text 5"/>
          <p:cNvSpPr/>
          <p:nvPr/>
        </p:nvSpPr>
        <p:spPr>
          <a:xfrm>
            <a:off x="4349800" y="3996184"/>
            <a:ext cx="4298082" cy="20411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50" dirty="0">
                <a:solidFill>
                  <a:srgbClr val="4C4C4D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Can deployments be rolled back if something goes wrong?</a:t>
            </a:r>
            <a:endParaRPr lang="en-US" sz="1250" dirty="0"/>
          </a:p>
        </p:txBody>
      </p:sp>
      <p:sp>
        <p:nvSpPr>
          <p:cNvPr id="13" name="Text 6"/>
          <p:cNvSpPr/>
          <p:nvPr/>
        </p:nvSpPr>
        <p:spPr>
          <a:xfrm>
            <a:off x="3925119" y="4527798"/>
            <a:ext cx="5179963" cy="2008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100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A reliable deployment process reduces downtime and risk.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1053182"/>
            <a:ext cx="8151763" cy="442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750" dirty="0">
                <a:solidFill>
                  <a:srgbClr val="152D47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8. Will the Website Be Easy to Maintain?</a:t>
            </a:r>
            <a:endParaRPr lang="en-US" sz="2750" dirty="0"/>
          </a:p>
        </p:txBody>
      </p:sp>
      <p:sp>
        <p:nvSpPr>
          <p:cNvPr id="3" name="Text 1"/>
          <p:cNvSpPr/>
          <p:nvPr/>
        </p:nvSpPr>
        <p:spPr>
          <a:xfrm>
            <a:off x="496119" y="1779687"/>
            <a:ext cx="8151763" cy="61309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3000"/>
              </a:lnSpc>
              <a:spcAft>
                <a:spcPts val="1250"/>
              </a:spcAft>
              <a:buNone/>
            </a:pPr>
            <a:r>
              <a:rPr lang="en-US" sz="110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Your business will grow, and your website should grow with it.</a:t>
            </a:r>
            <a:endParaRPr lang="en-US" sz="110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Ask whether the project includes: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496119" y="2552254"/>
            <a:ext cx="2622724" cy="504974"/>
          </a:xfrm>
          <a:prstGeom prst="roundRect">
            <a:avLst>
              <a:gd name="adj" fmla="val 4211"/>
            </a:avLst>
          </a:prstGeom>
          <a:solidFill>
            <a:srgbClr val="F2EEEE"/>
          </a:solidFill>
          <a:ln/>
        </p:spPr>
      </p:sp>
      <p:sp>
        <p:nvSpPr>
          <p:cNvPr id="5" name="Text 3"/>
          <p:cNvSpPr/>
          <p:nvPr/>
        </p:nvSpPr>
        <p:spPr>
          <a:xfrm>
            <a:off x="637877" y="2694012"/>
            <a:ext cx="2339206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4C4C4D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Clean, maintainable code</a:t>
            </a:r>
            <a:endParaRPr lang="en-US" sz="1350" dirty="0"/>
          </a:p>
        </p:txBody>
      </p:sp>
      <p:sp>
        <p:nvSpPr>
          <p:cNvPr id="6" name="Shape 4"/>
          <p:cNvSpPr/>
          <p:nvPr/>
        </p:nvSpPr>
        <p:spPr>
          <a:xfrm>
            <a:off x="3260601" y="2552254"/>
            <a:ext cx="2622724" cy="504974"/>
          </a:xfrm>
          <a:prstGeom prst="roundRect">
            <a:avLst>
              <a:gd name="adj" fmla="val 4211"/>
            </a:avLst>
          </a:prstGeom>
          <a:solidFill>
            <a:srgbClr val="F2EEEE"/>
          </a:solidFill>
          <a:ln/>
        </p:spPr>
      </p:sp>
      <p:sp>
        <p:nvSpPr>
          <p:cNvPr id="7" name="Text 5"/>
          <p:cNvSpPr/>
          <p:nvPr/>
        </p:nvSpPr>
        <p:spPr>
          <a:xfrm>
            <a:off x="3402360" y="2694012"/>
            <a:ext cx="2339206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4C4C4D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Documentation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6025083" y="2552254"/>
            <a:ext cx="2622724" cy="504974"/>
          </a:xfrm>
          <a:prstGeom prst="roundRect">
            <a:avLst>
              <a:gd name="adj" fmla="val 4211"/>
            </a:avLst>
          </a:prstGeom>
          <a:solidFill>
            <a:srgbClr val="F2EEEE"/>
          </a:solidFill>
          <a:ln/>
        </p:spPr>
      </p:sp>
      <p:sp>
        <p:nvSpPr>
          <p:cNvPr id="9" name="Text 7"/>
          <p:cNvSpPr/>
          <p:nvPr/>
        </p:nvSpPr>
        <p:spPr>
          <a:xfrm>
            <a:off x="6166842" y="2694012"/>
            <a:ext cx="2339206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4C4C4D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Admin panel (if needed)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496119" y="3198986"/>
            <a:ext cx="4004965" cy="504974"/>
          </a:xfrm>
          <a:prstGeom prst="roundRect">
            <a:avLst>
              <a:gd name="adj" fmla="val 4211"/>
            </a:avLst>
          </a:prstGeom>
          <a:solidFill>
            <a:srgbClr val="F2EEEE"/>
          </a:solidFill>
          <a:ln/>
        </p:spPr>
      </p:sp>
      <p:sp>
        <p:nvSpPr>
          <p:cNvPr id="11" name="Text 9"/>
          <p:cNvSpPr/>
          <p:nvPr/>
        </p:nvSpPr>
        <p:spPr>
          <a:xfrm>
            <a:off x="637877" y="3340745"/>
            <a:ext cx="3721447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4C4C4D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Future scalability</a:t>
            </a:r>
            <a:endParaRPr lang="en-US" sz="1350" dirty="0"/>
          </a:p>
        </p:txBody>
      </p:sp>
      <p:sp>
        <p:nvSpPr>
          <p:cNvPr id="12" name="Shape 10"/>
          <p:cNvSpPr/>
          <p:nvPr/>
        </p:nvSpPr>
        <p:spPr>
          <a:xfrm>
            <a:off x="4642842" y="3198986"/>
            <a:ext cx="4004965" cy="504974"/>
          </a:xfrm>
          <a:prstGeom prst="roundRect">
            <a:avLst>
              <a:gd name="adj" fmla="val 4211"/>
            </a:avLst>
          </a:prstGeom>
          <a:solidFill>
            <a:srgbClr val="F2EEEE"/>
          </a:solidFill>
          <a:ln/>
        </p:spPr>
      </p:sp>
      <p:sp>
        <p:nvSpPr>
          <p:cNvPr id="13" name="Text 11"/>
          <p:cNvSpPr/>
          <p:nvPr/>
        </p:nvSpPr>
        <p:spPr>
          <a:xfrm>
            <a:off x="4784601" y="3340745"/>
            <a:ext cx="3721447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4C4C4D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Ongoing support options</a:t>
            </a:r>
            <a:endParaRPr lang="en-US" sz="1350" dirty="0"/>
          </a:p>
        </p:txBody>
      </p:sp>
      <p:sp>
        <p:nvSpPr>
          <p:cNvPr id="14" name="Text 12"/>
          <p:cNvSpPr/>
          <p:nvPr/>
        </p:nvSpPr>
        <p:spPr>
          <a:xfrm>
            <a:off x="496119" y="3863429"/>
            <a:ext cx="8608963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Building for the future can save significant time and money later.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814015"/>
            <a:ext cx="8151763" cy="442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750" dirty="0">
                <a:solidFill>
                  <a:srgbClr val="152D47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9. What Happens After Launch?</a:t>
            </a:r>
            <a:endParaRPr lang="en-US" sz="2750" dirty="0"/>
          </a:p>
        </p:txBody>
      </p:sp>
      <p:sp>
        <p:nvSpPr>
          <p:cNvPr id="3" name="Text 1"/>
          <p:cNvSpPr/>
          <p:nvPr/>
        </p:nvSpPr>
        <p:spPr>
          <a:xfrm>
            <a:off x="496119" y="1540520"/>
            <a:ext cx="8151763" cy="61309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3000"/>
              </a:lnSpc>
              <a:spcAft>
                <a:spcPts val="1250"/>
              </a:spcAft>
              <a:buNone/>
            </a:pPr>
            <a:r>
              <a:rPr lang="en-US" sz="110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Launch day isn't the end of the project.</a:t>
            </a:r>
            <a:endParaRPr lang="en-US" sz="110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Ask whether the agency provides:</a:t>
            </a:r>
            <a:endParaRPr lang="en-US" sz="11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496119" y="2313087"/>
            <a:ext cx="354360" cy="35436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027658" y="2313087"/>
            <a:ext cx="3455715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4C4C4D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Bug fixes</a:t>
            </a:r>
            <a:endParaRPr lang="en-US" sz="1350" dirty="0"/>
          </a:p>
        </p:txBody>
      </p:sp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660553" y="2313087"/>
            <a:ext cx="354360" cy="354360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5192092" y="2313087"/>
            <a:ext cx="3455789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4C4C4D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Maintenance plans</a:t>
            </a:r>
            <a:endParaRPr lang="en-US" sz="1350" dirty="0"/>
          </a:p>
        </p:txBody>
      </p:sp>
      <p:pic>
        <p:nvPicPr>
          <p:cNvPr id="8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496119" y="2950964"/>
            <a:ext cx="354360" cy="354360"/>
          </a:xfrm>
          <a:prstGeom prst="rect">
            <a:avLst/>
          </a:prstGeom>
        </p:spPr>
      </p:pic>
      <p:sp>
        <p:nvSpPr>
          <p:cNvPr id="9" name="Text 4"/>
          <p:cNvSpPr/>
          <p:nvPr/>
        </p:nvSpPr>
        <p:spPr>
          <a:xfrm>
            <a:off x="1027658" y="2950964"/>
            <a:ext cx="3455715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4C4C4D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Monitoring</a:t>
            </a:r>
            <a:endParaRPr lang="en-US" sz="1350" dirty="0"/>
          </a:p>
        </p:txBody>
      </p:sp>
      <p:pic>
        <p:nvPicPr>
          <p:cNvPr id="10" name="Image 3" descr="preencoded.png">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4660553" y="2950964"/>
            <a:ext cx="354360" cy="354360"/>
          </a:xfrm>
          <a:prstGeom prst="rect">
            <a:avLst/>
          </a:prstGeom>
        </p:spPr>
      </p:pic>
      <p:sp>
        <p:nvSpPr>
          <p:cNvPr id="11" name="Text 5"/>
          <p:cNvSpPr/>
          <p:nvPr/>
        </p:nvSpPr>
        <p:spPr>
          <a:xfrm>
            <a:off x="5192092" y="2950964"/>
            <a:ext cx="3455789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4C4C4D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Backups</a:t>
            </a:r>
            <a:endParaRPr lang="en-US" sz="1350" dirty="0"/>
          </a:p>
        </p:txBody>
      </p:sp>
      <p:pic>
        <p:nvPicPr>
          <p:cNvPr id="12" name="Image 4" descr="preencoded.png">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496119" y="3588841"/>
            <a:ext cx="354360" cy="354360"/>
          </a:xfrm>
          <a:prstGeom prst="rect">
            <a:avLst/>
          </a:prstGeom>
        </p:spPr>
      </p:pic>
      <p:sp>
        <p:nvSpPr>
          <p:cNvPr id="13" name="Text 6"/>
          <p:cNvSpPr/>
          <p:nvPr/>
        </p:nvSpPr>
        <p:spPr>
          <a:xfrm>
            <a:off x="1027658" y="3588841"/>
            <a:ext cx="3455715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4C4C4D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Performance improvements</a:t>
            </a:r>
            <a:endParaRPr lang="en-US" sz="1350" dirty="0"/>
          </a:p>
        </p:txBody>
      </p:sp>
      <p:pic>
        <p:nvPicPr>
          <p:cNvPr id="14" name="Image 5" descr="preencoded.png">    </p:cNvPr>
          <p:cNvPicPr>
            <a:picLocks noChangeAspect="1"/>
          </p:cNvPicPr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4660553" y="3588841"/>
            <a:ext cx="354360" cy="354360"/>
          </a:xfrm>
          <a:prstGeom prst="rect">
            <a:avLst/>
          </a:prstGeom>
        </p:spPr>
      </p:pic>
      <p:sp>
        <p:nvSpPr>
          <p:cNvPr id="15" name="Text 7"/>
          <p:cNvSpPr/>
          <p:nvPr/>
        </p:nvSpPr>
        <p:spPr>
          <a:xfrm>
            <a:off x="5192092" y="3588841"/>
            <a:ext cx="3455789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4C4C4D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Technical support</a:t>
            </a:r>
            <a:endParaRPr lang="en-US" sz="1350" dirty="0"/>
          </a:p>
        </p:txBody>
      </p:sp>
      <p:sp>
        <p:nvSpPr>
          <p:cNvPr id="16" name="Text 8"/>
          <p:cNvSpPr/>
          <p:nvPr/>
        </p:nvSpPr>
        <p:spPr>
          <a:xfrm>
            <a:off x="496119" y="4102671"/>
            <a:ext cx="8608963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A good agency continues to support your business after delivery—not just until the invoice is paid.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/>
  <cp:revision>1</cp:revision>
  <dcterms:created xsi:type="dcterms:W3CDTF">2026-07-08T09:41:54Z</dcterms:created>
  <dcterms:modified xsi:type="dcterms:W3CDTF">2026-07-08T09:41:54Z</dcterms:modified>
</cp:coreProperties>
</file>
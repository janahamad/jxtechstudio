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Crimson Pro Medium"/>
      <p:regular r:id="rId201314"/>
    </p:embeddedFont>
    <p:embeddedFont>
      <p:font typeface="Crimson Pro ExtraBold"/>
      <p:regular r:id="rId201315"/>
    </p:embeddedFont>
    <p:embeddedFont>
      <p:font typeface="Crimson Pro Black"/>
      <p:regular r:id="rId201316"/>
    </p:embeddedFont>
    <p:embeddedFont>
      <p:font typeface="Crimson Pro ExtraLight"/>
      <p:regular r:id="rId201317"/>
    </p:embeddedFont>
    <p:embeddedFont>
      <p:font typeface="Crimson Pro Light"/>
      <p:regular r:id="rId201318"/>
    </p:embeddedFont>
    <p:embeddedFont>
      <p:font typeface="Crimson Pro"/>
      <p:regular r:id="rId201319"/>
    </p:embeddedFont>
    <p:embeddedFont>
      <p:font typeface="Crimson Pro SemiBold"/>
      <p:regular r:id="rId201320"/>
    </p:embeddedFont>
    <p:embeddedFont>
      <p:font typeface="Crimson Pro Bold"/>
      <p:regular r:id="rId201321"/>
    </p:embeddedFont>
    <p:embeddedFont>
      <p:font typeface="Heebo Thin"/>
      <p:regular r:id="rId201322"/>
    </p:embeddedFont>
    <p:embeddedFont>
      <p:font typeface="Heebo ExtraLight"/>
      <p:regular r:id="rId201323"/>
    </p:embeddedFont>
    <p:embeddedFont>
      <p:font typeface="Heebo Light"/>
      <p:regular r:id="rId201324"/>
    </p:embeddedFont>
    <p:embeddedFont>
      <p:font typeface="Heebo"/>
      <p:regular r:id="rId201325"/>
    </p:embeddedFont>
    <p:embeddedFont>
      <p:font typeface="Heebo Medium"/>
      <p:regular r:id="rId201326"/>
    </p:embeddedFont>
    <p:embeddedFont>
      <p:font typeface="Heebo SemiBold"/>
      <p:regular r:id="rId201327"/>
    </p:embeddedFont>
    <p:embeddedFont>
      <p:font typeface="Heebo Bold"/>
      <p:regular r:id="rId201328"/>
    </p:embeddedFont>
    <p:embeddedFont>
      <p:font typeface="Heebo ExtraBold"/>
      <p:regular r:id="rId201329"/>
    </p:embeddedFont>
    <p:embeddedFont>
      <p:font typeface="Heebo Black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image" Target="../media/image-10-1.png"/><Relationship Id="rId12" Type="http://schemas.openxmlformats.org/officeDocument/2006/relationships/image" Target="../media/image-10-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87623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Choosing Infrastructure That Won't Need a Rewrite at 10x Users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157115"/>
            <a:ext cx="8151763" cy="1998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One of the most common questions teams ask is: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"How do we build infrastructure that can scale?"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answer isn't to prepare for millions of users on day one.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It's to make decisions today that won't force you to rebuild everything when your application grows ten times larger.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Scalable infrastructure isn't about using the most advanced technologies—it's about avoiding architectural decisions that become expensive bottlenecks later.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95673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Don't Optimize for a Million Users on Day One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22177"/>
            <a:ext cx="8151763" cy="2225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Many startups overcomplicate their infrastructure before they have real users.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They deploy Kubernetes clusters, multiple databases, dozens of microservices, and complex networking—all to support an application that receives a few hundred visits a day.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 many cases, that's unnecessary.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well-configured virtual server running Docker containers can comfortably support thousands of users before more advanced infrastructure becomes necessary.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goal isn't to build for infinite scale today. It's to build so scaling later is straightforward.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644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Keep Your Architecture Modular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342951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Applications that separate responsibilities are much easier to grow.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Instead of building everything into one tightly coupled system, separate concerns such as: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115517"/>
            <a:ext cx="4004965" cy="504974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637877" y="2257276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Frontend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42842" y="2115517"/>
            <a:ext cx="4005039" cy="504974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4784601" y="2257276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Backend API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96119" y="2762250"/>
            <a:ext cx="4004965" cy="504974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637877" y="2904009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642842" y="2762250"/>
            <a:ext cx="4005039" cy="504974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784601" y="2904009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File storage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96119" y="3408983"/>
            <a:ext cx="4004965" cy="504974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637877" y="3550741"/>
            <a:ext cx="37214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Background jobs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42842" y="3408983"/>
            <a:ext cx="4005039" cy="504974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4784601" y="3550741"/>
            <a:ext cx="37215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Caching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96119" y="4073426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doesn't mean every component needs its own server immediately. It means your architecture should allow components to move independently as demand increases.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Containers Make Growth Easier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841474"/>
            <a:ext cx="8151763" cy="35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spcAft>
                <a:spcPts val="600"/>
              </a:spcAft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Using containers from the beginning provides consistency across development, testing, and production.</a:t>
            </a:r>
            <a:endParaRPr lang="en-US" sz="75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Whether you're deploying to a single VPS or a cloud platform, containerized applications are easier to: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96119" y="1270695"/>
            <a:ext cx="398711" cy="598066"/>
          </a:xfrm>
          <a:prstGeom prst="roundRect">
            <a:avLst>
              <a:gd name="adj" fmla="val 360009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964853" y="1370335"/>
            <a:ext cx="768302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Deploy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1938784"/>
            <a:ext cx="398711" cy="598066"/>
          </a:xfrm>
          <a:prstGeom prst="roundRect">
            <a:avLst>
              <a:gd name="adj" fmla="val 360009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964853" y="2038424"/>
            <a:ext cx="768302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Update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96119" y="2606873"/>
            <a:ext cx="398711" cy="598066"/>
          </a:xfrm>
          <a:prstGeom prst="roundRect">
            <a:avLst>
              <a:gd name="adj" fmla="val 360009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964853" y="2706514"/>
            <a:ext cx="768302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Roll back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6119" y="3274963"/>
            <a:ext cx="398711" cy="598066"/>
          </a:xfrm>
          <a:prstGeom prst="roundRect">
            <a:avLst>
              <a:gd name="adj" fmla="val 360009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964853" y="3374603"/>
            <a:ext cx="768302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Scale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6119" y="3943052"/>
            <a:ext cx="398711" cy="598066"/>
          </a:xfrm>
          <a:prstGeom prst="roundRect">
            <a:avLst>
              <a:gd name="adj" fmla="val 360009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964853" y="4042693"/>
            <a:ext cx="7683029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Migrate between environments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6119" y="4619923"/>
            <a:ext cx="8608963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You don't need Kubernetes on day one, but using Docker early can save significant effort later.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0435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Design Your Database Carefully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30859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Many scaling problems begin with poor database design rather than insufficient hardware.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Before worrying about distributed databases, focus on: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403425"/>
            <a:ext cx="2622724" cy="764530"/>
          </a:xfrm>
          <a:prstGeom prst="roundRect">
            <a:avLst>
              <a:gd name="adj" fmla="val 2781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6927" y="2564234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Proper indexing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60601" y="2403425"/>
            <a:ext cx="2622724" cy="764530"/>
          </a:xfrm>
          <a:prstGeom prst="roundRect">
            <a:avLst>
              <a:gd name="adj" fmla="val 2781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1410" y="2564234"/>
            <a:ext cx="23011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Efficient queries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25083" y="2403425"/>
            <a:ext cx="2622724" cy="764530"/>
          </a:xfrm>
          <a:prstGeom prst="roundRect">
            <a:avLst>
              <a:gd name="adj" fmla="val 2781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85892" y="2564234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Normalized data where appropriate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96119" y="3309714"/>
            <a:ext cx="4004965" cy="543074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6927" y="3470523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Connection pooling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642842" y="3309714"/>
            <a:ext cx="4004965" cy="543074"/>
          </a:xfrm>
          <a:prstGeom prst="roundRect">
            <a:avLst>
              <a:gd name="adj" fmla="val 3916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3651" y="3470523"/>
            <a:ext cx="36833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Regular backups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96119" y="401225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well-designed relational database can handle far more traffic than many developers expect.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5071" y="389855"/>
            <a:ext cx="2842766" cy="5434608"/>
          </a:xfrm>
          <a:prstGeom prst="roundRect">
            <a:avLst>
              <a:gd name="adj" fmla="val 374"/>
            </a:avLst>
          </a:prstGeom>
          <a:solidFill>
            <a:srgbClr val="2150FE"/>
          </a:solidFill>
          <a:ln/>
        </p:spPr>
      </p:sp>
      <p:sp>
        <p:nvSpPr>
          <p:cNvPr id="3" name="Text 1"/>
          <p:cNvSpPr/>
          <p:nvPr/>
        </p:nvSpPr>
        <p:spPr>
          <a:xfrm>
            <a:off x="515913" y="2635969"/>
            <a:ext cx="27010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Separate Storage From Compute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15913" y="2892847"/>
            <a:ext cx="2701082" cy="20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5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Avoid storing important files directly on the application server.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Instead, use dedicated object storage or network storage for: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515913" y="3126656"/>
            <a:ext cx="2701082" cy="474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User uploads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Images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Documents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Backups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Generated files</a:t>
            </a:r>
            <a:endParaRPr lang="en-US" sz="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4489" y="429667"/>
            <a:ext cx="5238080" cy="5238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14489" y="5707559"/>
            <a:ext cx="5695280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makes replacing or scaling application servers much simpler because your data isn't tied to a single machine.</a:t>
            </a:r>
            <a:endParaRPr lang="en-US" sz="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9549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Add Caching Where It Matters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22003"/>
            <a:ext cx="8151763" cy="999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Not every request needs to hit the database.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Caching frequently accessed data can dramatically improve performance while reducing server load.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Common examples include: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780854"/>
            <a:ext cx="354360" cy="35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7658" y="2780854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Homepage content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2780854"/>
            <a:ext cx="354360" cy="354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03972" y="2780854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Product catalogs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2780854"/>
            <a:ext cx="354360" cy="3543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80287" y="2780854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API responses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418731"/>
            <a:ext cx="354360" cy="3543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27658" y="3418731"/>
            <a:ext cx="20675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User sessions</a:t>
            </a:r>
            <a:endParaRPr lang="en-US" sz="13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3418731"/>
            <a:ext cx="354360" cy="35436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803972" y="3418731"/>
            <a:ext cx="206759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Frequently requested configuration data</a:t>
            </a:r>
            <a:endParaRPr lang="en-US" sz="1350" dirty="0"/>
          </a:p>
        </p:txBody>
      </p:sp>
      <p:sp>
        <p:nvSpPr>
          <p:cNvPr id="14" name="Text 7"/>
          <p:cNvSpPr/>
          <p:nvPr/>
        </p:nvSpPr>
        <p:spPr>
          <a:xfrm>
            <a:off x="496119" y="402111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right caching strategy often provides greater performance gains than simply upgrading server hardware.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1622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Build Reliable Deployment Pipelines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314798"/>
            <a:ext cx="4722763" cy="1612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Scaling isn't just about handling more users.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It's also about delivering updates safely.</a:t>
            </a:r>
            <a:endParaRPr lang="en-US" sz="11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deployments reduce downtime, minimize human error, and make rolling back failed releases much easier.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Even a small team benefits from having a repeatable deployment process.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Plan for Horizontal Scaling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2977828"/>
            <a:ext cx="2740670" cy="690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Eventually, one server may no longer be enough.</a:t>
            </a:r>
            <a:endParaRPr lang="en-US" sz="550" dirty="0"/>
          </a:p>
          <a:p>
            <a:pPr algn="l"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When that happens, your application should be able to run on multiple servers behind a load balancer.</a:t>
            </a:r>
            <a:endParaRPr lang="en-US" sz="550" dirty="0"/>
          </a:p>
          <a:p>
            <a:pPr algn="l" indent="0" marL="0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Applications designed to be as stateless as possible are much easier to scale horizontally.</a:t>
            </a:r>
            <a:endParaRPr lang="en-US" sz="5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Keep user sessions and shared data in centralized services rather than storing them on individual application servers.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4489" y="704255"/>
            <a:ext cx="5238080" cy="5238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9524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Monitor Before Problems Appear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206029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You can't improve what you can't measure.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Track metrics such as: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978596"/>
            <a:ext cx="4004965" cy="54307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3127" y="2139404"/>
            <a:ext cx="36071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CPU usage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2842" y="1978596"/>
            <a:ext cx="4005039" cy="5430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79851" y="2139404"/>
            <a:ext cx="3607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Memory consumption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663428"/>
            <a:ext cx="4004965" cy="54307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33127" y="2824237"/>
            <a:ext cx="36071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Disk space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42842" y="2663428"/>
            <a:ext cx="4005039" cy="54307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879851" y="2824237"/>
            <a:ext cx="3607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Response times</a:t>
            </a:r>
            <a:endParaRPr lang="en-US" sz="13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348261"/>
            <a:ext cx="4004965" cy="54307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33127" y="3509070"/>
            <a:ext cx="36071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Error rates</a:t>
            </a:r>
            <a:endParaRPr lang="en-US" sz="13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42842" y="3348261"/>
            <a:ext cx="4005039" cy="54307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4879851" y="3509070"/>
            <a:ext cx="3607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Database performance</a:t>
            </a:r>
            <a:endParaRPr lang="en-US" sz="1350" dirty="0"/>
          </a:p>
        </p:txBody>
      </p:sp>
      <p:sp>
        <p:nvSpPr>
          <p:cNvPr id="16" name="Text 8"/>
          <p:cNvSpPr/>
          <p:nvPr/>
        </p:nvSpPr>
        <p:spPr>
          <a:xfrm>
            <a:off x="496119" y="4050804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Monitoring helps you identify bottlenecks before users notice them.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Scaling decisions should be driven by real data—not guesswork.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2026-07-08T09:39:34Z</dcterms:created>
  <dcterms:modified xsi:type="dcterms:W3CDTF">2026-07-08T09:39:34Z</dcterms:modified>
</cp:coreProperties>
</file>